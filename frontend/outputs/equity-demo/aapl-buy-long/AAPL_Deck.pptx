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recommendation, model output, and immediate falsification.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scenario framing short and tied to the memo.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Force the PM conversation to consensus, variant, and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figures match the workbook source payload.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valuation context to the same comps payload used in Excel.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what changes the mind; avoid fake certainty.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57200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7882128" y="0"/>
            <a:ext cx="4315968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859536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9C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THESIS PACKAGE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621792" y="135331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AAPL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76656" y="2212848"/>
            <a:ext cx="21488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6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/ Long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621792" y="2907792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 likely focuses on hardware unit softness. We believe the sharper question is whether services mix and operating leverage can defend earnings power through the next...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4041648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DD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analyst rationale: services durability and margin discipline are underappreciated while the market is over-focused on near-term iPhone unit pressure.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8302752" y="987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9C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READ-THROUGH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302752" y="14813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$220/sh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02752" y="1865376"/>
            <a:ext cx="2697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9C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VALUE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302752" y="23957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02752" y="2779776"/>
            <a:ext cx="2697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9C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CAGR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8302752" y="33101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27.7%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02752" y="3694176"/>
            <a:ext cx="2697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9C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FY4 FCF MARGIN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8302752" y="42245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22.6x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02752" y="4608576"/>
            <a:ext cx="2697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9C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P/E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8302752" y="56875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B9C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 execution. Paper trade package only.</a:t>
            </a:r>
            <a:endParaRPr lang="en-US" sz="7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 NOTE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6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argument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307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changed, why now, and how the scenarios frame the pitch.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58368" y="1828800"/>
            <a:ext cx="41605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75104"/>
            <a:ext cx="3831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 VIEW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362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6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/ Long. User rationale: services durability and margin discipline are underappreciated while the market is over-focused on near-term iPhone unit pressure.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45643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Apple FY2024 Form 10-K. Apple is a premium consumer hardware and services platform with a large recurring services layer.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5138928" y="1828800"/>
            <a:ext cx="278892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1975104"/>
            <a:ext cx="2459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5358384" y="2267712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Apple FY2024 Form 10-K. Revenue returned to modest growth in FY2024 while gross margin expanded, making the next revision cycle important.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8247888" y="1828800"/>
            <a:ext cx="2788920" cy="1133856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975104"/>
            <a:ext cx="2459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8467344" y="2267712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Apple FY2024 Form 10-K. FY2024 revenue increased versus FY2023 and gross profit expanded faster than revenue.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138928" y="3493008"/>
            <a:ext cx="1755648" cy="1947672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3639312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5138928" y="3493008"/>
            <a:ext cx="1755648" cy="45720"/>
          </a:xfrm>
          <a:prstGeom prst="rect">
            <a:avLst/>
          </a:prstGeom>
          <a:solidFill>
            <a:srgbClr val="0D2B4C"/>
          </a:solidFill>
          <a:ln w="12700">
            <a:solidFill>
              <a:srgbClr val="0D2B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3968496"/>
            <a:ext cx="1417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estimate: services growth accelerates and gross margin remains above the recent range.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7132320" y="3493008"/>
            <a:ext cx="1755648" cy="1947672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6912" y="3639312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7132320" y="3493008"/>
            <a:ext cx="1755648" cy="45720"/>
          </a:xfrm>
          <a:prstGeom prst="rect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96912" y="3968496"/>
            <a:ext cx="1417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estimate: low-single-digit revenue growth and stable margins support a neutral-to-positive setup.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9125712" y="3493008"/>
            <a:ext cx="1755648" cy="1947672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90304" y="3639312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9125712" y="3493008"/>
            <a:ext cx="1755648" cy="45720"/>
          </a:xfrm>
          <a:prstGeom prst="rect">
            <a:avLst/>
          </a:prstGeom>
          <a:solidFill>
            <a:srgbClr val="A94442"/>
          </a:solidFill>
          <a:ln w="12700">
            <a:solidFill>
              <a:srgbClr val="A944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90304" y="3968496"/>
            <a:ext cx="1417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estimate: device replacement cycles elongate and services growth decelerates.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502920" y="6254496"/>
            <a:ext cx="11201400" cy="0"/>
          </a:xfrm>
          <a:prstGeom prst="line">
            <a:avLst/>
          </a:prstGeom>
          <a:noFill/>
          <a:ln w="5715">
            <a:solidFill>
              <a:srgbClr val="C7D0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41908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RESEARCH PACKAGE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9509760" y="64190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 PERCEPTION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6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view must be sharper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307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Consensus, our variant, and the evidence that proves or breaks the view.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31546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20824"/>
            <a:ext cx="2825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 LIKELY BELIEVES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rationale: consensus may underweight services resilience against uneven device demand.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4526280" y="1874520"/>
            <a:ext cx="31546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2020824"/>
            <a:ext cx="2825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BELIEVE INSTEAD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4782312" y="23317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 likely focuses on hardware unit softness. We believe the sharper question is whether services mix and operating leverage can defend earnings power through the next product cycle.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8394192" y="1874520"/>
            <a:ext cx="274320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58784" y="2020824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8650224" y="2331720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What changed: Apple reported FY2024 net sales of $391.0B.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Management / filing narrative: FY2024 revenue returned to modest growth after FY2023 contraction.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Risk / falsification: Apple's risk disclosures...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658368" y="4434840"/>
            <a:ext cx="10479024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581144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STATEMENT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914400" y="4800600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/ Long. User rationale: services durability and margin discipline are underappreciated while the market is over-focused on near-term iPhone unit pressure.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6254496"/>
            <a:ext cx="11201400" cy="0"/>
          </a:xfrm>
          <a:prstGeom prst="line">
            <a:avLst/>
          </a:prstGeom>
          <a:noFill/>
          <a:ln w="5715">
            <a:solidFill>
              <a:srgbClr val="C7D0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41908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RESEARCH PACKAGE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9509760" y="64190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6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behind the story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307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are derived from the same forecast, sensitivity, comps, and valuation payload used for the XLSX model.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104698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9339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6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$449.7B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FY4 REVENUE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3520440" y="199339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6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20440" y="2377440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CAGR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6126480" y="199339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6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27.7%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126480" y="2377440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FY4 FCF MARGIN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8732520" y="199339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6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$220/sh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732520" y="2377440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VALUE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658368" y="3154680"/>
            <a:ext cx="5102352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300984"/>
            <a:ext cx="4773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 OUTPUT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960120" y="3954176"/>
            <a:ext cx="751637" cy="636112"/>
          </a:xfrm>
          <a:prstGeom prst="rect">
            <a:avLst/>
          </a:prstGeom>
          <a:solidFill>
            <a:srgbClr val="5F738A"/>
          </a:solidFill>
          <a:ln w="12700">
            <a:solidFill>
              <a:srgbClr val="5F73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681728"/>
            <a:ext cx="7516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FY2024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1858061" y="3936827"/>
            <a:ext cx="751637" cy="653461"/>
          </a:xfrm>
          <a:prstGeom prst="rect">
            <a:avLst/>
          </a:prstGeom>
          <a:solidFill>
            <a:srgbClr val="5F738A"/>
          </a:solidFill>
          <a:ln w="12700">
            <a:solidFill>
              <a:srgbClr val="5F73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58061" y="4681728"/>
            <a:ext cx="7516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FY1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2756002" y="3913955"/>
            <a:ext cx="751637" cy="676333"/>
          </a:xfrm>
          <a:prstGeom prst="rect">
            <a:avLst/>
          </a:prstGeom>
          <a:solidFill>
            <a:srgbClr val="5F738A"/>
          </a:solidFill>
          <a:ln w="12700">
            <a:solidFill>
              <a:srgbClr val="5F73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56002" y="4681728"/>
            <a:ext cx="7516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</a:t>
            </a:r>
            <a:endParaRPr lang="en-US" sz="620" dirty="0"/>
          </a:p>
        </p:txBody>
      </p:sp>
      <p:sp>
        <p:nvSpPr>
          <p:cNvPr id="23" name="Shape 21"/>
          <p:cNvSpPr/>
          <p:nvPr/>
        </p:nvSpPr>
        <p:spPr>
          <a:xfrm>
            <a:off x="3653942" y="3886902"/>
            <a:ext cx="751637" cy="703386"/>
          </a:xfrm>
          <a:prstGeom prst="rect">
            <a:avLst/>
          </a:prstGeom>
          <a:solidFill>
            <a:srgbClr val="5F738A"/>
          </a:solidFill>
          <a:ln w="12700">
            <a:solidFill>
              <a:srgbClr val="5F73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3942" y="4681728"/>
            <a:ext cx="7516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FY3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4551883" y="3858768"/>
            <a:ext cx="751637" cy="731520"/>
          </a:xfrm>
          <a:prstGeom prst="rect">
            <a:avLst/>
          </a:prstGeom>
          <a:solidFill>
            <a:srgbClr val="0D2B4C"/>
          </a:solidFill>
          <a:ln w="12700">
            <a:solidFill>
              <a:srgbClr val="0D2B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51883" y="4681728"/>
            <a:ext cx="7516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FY4</a:t>
            </a:r>
            <a:endParaRPr lang="en-US" sz="620" dirty="0"/>
          </a:p>
        </p:txBody>
      </p:sp>
      <p:sp>
        <p:nvSpPr>
          <p:cNvPr id="27" name="Shape 25"/>
          <p:cNvSpPr/>
          <p:nvPr/>
        </p:nvSpPr>
        <p:spPr>
          <a:xfrm>
            <a:off x="6053328" y="3154680"/>
            <a:ext cx="507492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300984"/>
            <a:ext cx="4745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RANGE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6355080" y="376732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55080" y="4160520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</a:t>
            </a:r>
            <a:endParaRPr lang="en-US" sz="640" dirty="0"/>
          </a:p>
        </p:txBody>
      </p:sp>
      <p:sp>
        <p:nvSpPr>
          <p:cNvPr id="31" name="Text 29"/>
          <p:cNvSpPr/>
          <p:nvPr/>
        </p:nvSpPr>
        <p:spPr>
          <a:xfrm>
            <a:off x="7872984" y="376732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872984" y="4160520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640" dirty="0"/>
          </a:p>
        </p:txBody>
      </p:sp>
      <p:sp>
        <p:nvSpPr>
          <p:cNvPr id="33" name="Text 31"/>
          <p:cNvSpPr/>
          <p:nvPr/>
        </p:nvSpPr>
        <p:spPr>
          <a:xfrm>
            <a:off x="9390888" y="376732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390888" y="4160520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</a:t>
            </a:r>
            <a:endParaRPr lang="en-US" sz="640" dirty="0"/>
          </a:p>
        </p:txBody>
      </p:sp>
      <p:sp>
        <p:nvSpPr>
          <p:cNvPr id="35" name="Text 33"/>
          <p:cNvSpPr/>
          <p:nvPr/>
        </p:nvSpPr>
        <p:spPr>
          <a:xfrm>
            <a:off x="6364224" y="466344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dependency: Forward estimate: low-single-digit revenue growth and stable margins support a neutral-to-positive setup.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502920" y="6254496"/>
            <a:ext cx="11201400" cy="0"/>
          </a:xfrm>
          <a:prstGeom prst="line">
            <a:avLst/>
          </a:prstGeom>
          <a:noFill/>
          <a:ln w="5715">
            <a:solidFill>
              <a:srgbClr val="C7D0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641908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RESEARCH PACKAGE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9509760" y="64190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AAPL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6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valuation context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307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multiples and medians are sourced from the same comps sheet payload.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828800"/>
          <a:ext cx="6583680" cy="2240280"/>
        </p:xfrm>
        <a:graphic>
          <a:graphicData uri="http://schemas.openxmlformats.org/drawingml/2006/table">
            <a:tbl>
              <a:tblPr/>
              <a:tblGrid>
                <a:gridCol w="1316736"/>
                <a:gridCol w="1316736"/>
                <a:gridCol w="1316736"/>
                <a:gridCol w="1316736"/>
                <a:gridCol w="1316736"/>
              </a:tblGrid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Ticker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EV/Rev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EV/EBITDA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P/E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MSFT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12.2x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24.5x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31.1x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Alphabet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5.9x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15.2x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21.4x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Platforms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7.4x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14.1x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22.6x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26680" y="1828800"/>
            <a:ext cx="32918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91272" y="1975104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MEDIAN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8001000" y="2359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6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7.4x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001000" y="274320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EV/REVENUE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8001000" y="33101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6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22.6x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001000" y="369417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P/E</a:t>
            </a:r>
            <a:endParaRPr lang="en-US" sz="680" dirty="0"/>
          </a:p>
        </p:txBody>
      </p:sp>
      <p:sp>
        <p:nvSpPr>
          <p:cNvPr id="13" name="Shape 10"/>
          <p:cNvSpPr/>
          <p:nvPr/>
        </p:nvSpPr>
        <p:spPr>
          <a:xfrm>
            <a:off x="658368" y="4526280"/>
            <a:ext cx="1036015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672584"/>
            <a:ext cx="10030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914400" y="4882896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AAPL must earn any premium through durable growth, margin stability, and catalyst confirmation. Narrative source documents and reported baselines are cited; forward multiples remain estimates until live comps...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502920" y="6254496"/>
            <a:ext cx="11201400" cy="0"/>
          </a:xfrm>
          <a:prstGeom prst="line">
            <a:avLst/>
          </a:prstGeom>
          <a:noFill/>
          <a:ln w="5715">
            <a:solidFill>
              <a:srgbClr val="C7D0D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41908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RESEARCH PACKAGE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9509760" y="64190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/ FALSIFICATION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6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breaks the thesis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307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Early-warning thresholds and explicit actions.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58368" y="1828800"/>
            <a:ext cx="306324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75104"/>
            <a:ext cx="2734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SLOWDOWN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859536" y="2267712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Threshold: Growth below mid-single digits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Re-underwrite thesis.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4178808" y="1828800"/>
            <a:ext cx="306324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975104"/>
            <a:ext cx="2734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COMPRESSION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4379976" y="2267712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Threshold: Gross margin down more than 150 bps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Trim or exit paper position.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7699248" y="1828800"/>
            <a:ext cx="306324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1975104"/>
            <a:ext cx="2734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GUIDE-DOWN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7900416" y="2267712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Threshold: Sustained device revenue decline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Mark thesis weakened.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658368" y="3749040"/>
            <a:ext cx="498348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95344"/>
            <a:ext cx="4654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INVALIDATION CONDITIONS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914400" y="4160520"/>
            <a:ext cx="4443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Services growth falls below mid-single digits.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Gross margin compresses by more than 150 bps.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Management guides to sustained hardware decline.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6144768" y="3749040"/>
            <a:ext cx="498348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895344"/>
            <a:ext cx="4654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DOWNSIDE PATH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6400800" y="4160520"/>
            <a:ext cx="4443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estimate: device replacement cycles elongate and services growth decelerates.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502920" y="6254496"/>
            <a:ext cx="11201400" cy="0"/>
          </a:xfrm>
          <a:prstGeom prst="line">
            <a:avLst/>
          </a:prstGeom>
          <a:noFill/>
          <a:ln w="5715">
            <a:solidFill>
              <a:srgbClr val="C7D0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41908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RESEARCH PACKAGE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9509760" y="64190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Falsification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CITADAIL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PROPOSAL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6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to desk action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307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Paper-trade instructions and monitoring logic.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828800"/>
          <a:ext cx="5303520" cy="201168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bias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Entry zone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on weakness near prior support; do not chase gaps.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Position size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Starter 2%; add only after margin confirmation.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horizon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Multi-week to multi-month.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/ trim / exit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018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on services confirmation, trim on guide-down, exit on margin break.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327648" y="1828800"/>
            <a:ext cx="477316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0" y="1975104"/>
            <a:ext cx="4443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FALSIFICATION TRIGGERS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6583680" y="2267712"/>
            <a:ext cx="4187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slowdown: Growth below mid-single digits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compression: Gross margin down more than 150 bps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guide-down: Sustained device revenue decline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658368" y="4389120"/>
            <a:ext cx="48463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535424"/>
            <a:ext cx="4517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 INSTRUCTION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914400" y="4736592"/>
            <a:ext cx="4352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as a paper trade only. Monitor thesis health before adding risk. No live execution in v1.</a:t>
            </a:r>
            <a:endParaRPr lang="en-US" sz="740" dirty="0"/>
          </a:p>
        </p:txBody>
      </p:sp>
      <p:sp>
        <p:nvSpPr>
          <p:cNvPr id="13" name="Shape 10"/>
          <p:cNvSpPr/>
          <p:nvPr/>
        </p:nvSpPr>
        <p:spPr>
          <a:xfrm>
            <a:off x="5897880" y="4389120"/>
            <a:ext cx="48463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62472" y="4535424"/>
            <a:ext cx="4517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RE-CHECK CADENCE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6153912" y="4736592"/>
            <a:ext cx="4352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Re-check after earnings, guidance, material news, or any trigger breach.</a:t>
            </a:r>
            <a:endParaRPr lang="en-US" sz="740" dirty="0"/>
          </a:p>
        </p:txBody>
      </p:sp>
      <p:sp>
        <p:nvSpPr>
          <p:cNvPr id="16" name="Shape 13"/>
          <p:cNvSpPr/>
          <p:nvPr/>
        </p:nvSpPr>
        <p:spPr>
          <a:xfrm>
            <a:off x="502920" y="6254496"/>
            <a:ext cx="11201400" cy="0"/>
          </a:xfrm>
          <a:prstGeom prst="line">
            <a:avLst/>
          </a:prstGeom>
          <a:noFill/>
          <a:ln w="5715">
            <a:solidFill>
              <a:srgbClr val="C7D0D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41908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RESEARCH PACKAGE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9509760" y="64190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F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Citadail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AAPL PM Pitch Deck</dc:title>
  <dc:subject>AAPL PM pitch deck</dc:subject>
  <dc:creator>Citadail</dc:creator>
  <cp:lastModifiedBy>Citadail</cp:lastModifiedBy>
  <cp:revision>1</cp:revision>
  <dcterms:created xsi:type="dcterms:W3CDTF">2026-04-18T09:52:40Z</dcterms:created>
  <dcterms:modified xsi:type="dcterms:W3CDTF">2026-04-18T09:52:40Z</dcterms:modified>
</cp:coreProperties>
</file>