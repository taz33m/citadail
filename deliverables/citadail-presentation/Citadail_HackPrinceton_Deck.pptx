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value proposition: Citadail turns AI from a chat box into an investment desk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market gap: finance teams do not need another answer bot. They need workflow-native intelligence with memory and handoffs.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central architecture decision is the Thesis Record. It prevents the system from becoming a grab bag of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flow: this is not a form. It is an investment workflow with artifact outputs and gates.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credibility claim: this is a walk-forward simulation with time isolation, not hindsight optimization.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overclaim this as audited alpha. Pitch it as a visible operating desk with useful diagnostics and paper-only scorekeeping.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judge reference slide. It maps features to implementation surfaces.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connects directly to the Photon track: real group-chat participation with context and controlled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Sponsor proof slide. Emphasize that proof beats broad claims: one real bounded execution path is enough and safer.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working utility, not speculation. This is a cohesive product with proof surfaces.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2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azeemmahashin/Downloads/template/frontend/app/Citad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87" y="411480"/>
            <a:ext cx="585073" cy="32918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0" y="347472"/>
            <a:ext cx="1947672" cy="566928"/>
          </a:xfrm>
          <a:prstGeom prst="roundRect">
            <a:avLst>
              <a:gd name="adj" fmla="val 8065"/>
            </a:avLst>
          </a:prstGeom>
          <a:solidFill>
            <a:srgbClr val="F0F3F8"/>
          </a:solidFill>
          <a:ln w="10160">
            <a:solidFill>
              <a:srgbClr val="D7DEE9"/>
            </a:solidFill>
            <a:prstDash val="solid"/>
          </a:ln>
        </p:spPr>
      </p:sp>
      <p:pic>
        <p:nvPicPr>
          <p:cNvPr id="4" name="Image 1" descr="/Users/tazeemmahashin/Downloads/template/frontend/eragonai_logo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128" y="466344"/>
            <a:ext cx="310896" cy="31089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80176" y="475488"/>
            <a:ext cx="1225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0A2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Eragon</a:t>
            </a:r>
            <a:endParaRPr lang="en-US" sz="730" dirty="0"/>
          </a:p>
        </p:txBody>
      </p:sp>
      <p:sp>
        <p:nvSpPr>
          <p:cNvPr id="6" name="Text 2"/>
          <p:cNvSpPr/>
          <p:nvPr/>
        </p:nvSpPr>
        <p:spPr>
          <a:xfrm>
            <a:off x="5980176" y="658368"/>
            <a:ext cx="1298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b="1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RUNTIME</a:t>
            </a:r>
            <a:endParaRPr lang="en-US" sz="590" dirty="0"/>
          </a:p>
        </p:txBody>
      </p:sp>
      <p:sp>
        <p:nvSpPr>
          <p:cNvPr id="7" name="Shape 3"/>
          <p:cNvSpPr/>
          <p:nvPr/>
        </p:nvSpPr>
        <p:spPr>
          <a:xfrm>
            <a:off x="7662672" y="347472"/>
            <a:ext cx="1947672" cy="566928"/>
          </a:xfrm>
          <a:prstGeom prst="roundRect">
            <a:avLst>
              <a:gd name="adj" fmla="val 8065"/>
            </a:avLst>
          </a:prstGeom>
          <a:solidFill>
            <a:srgbClr val="F0F3F8"/>
          </a:solidFill>
          <a:ln w="10160">
            <a:solidFill>
              <a:srgbClr val="D7DEE9"/>
            </a:solidFill>
            <a:prstDash val="solid"/>
          </a:ln>
        </p:spPr>
      </p:sp>
      <p:pic>
        <p:nvPicPr>
          <p:cNvPr id="8" name="Image 2" descr="/Users/tazeemmahashin/Downloads/template/frontend/dedalus-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466344"/>
            <a:ext cx="310896" cy="31089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156448" y="475488"/>
            <a:ext cx="1225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0A2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Dedalus</a:t>
            </a:r>
            <a:endParaRPr lang="en-US" sz="730" dirty="0"/>
          </a:p>
        </p:txBody>
      </p:sp>
      <p:sp>
        <p:nvSpPr>
          <p:cNvPr id="10" name="Text 5"/>
          <p:cNvSpPr/>
          <p:nvPr/>
        </p:nvSpPr>
        <p:spPr>
          <a:xfrm>
            <a:off x="8156448" y="658368"/>
            <a:ext cx="1298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b="1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LAYER</a:t>
            </a:r>
            <a:endParaRPr lang="en-US" sz="590" dirty="0"/>
          </a:p>
        </p:txBody>
      </p:sp>
      <p:sp>
        <p:nvSpPr>
          <p:cNvPr id="11" name="Shape 6"/>
          <p:cNvSpPr/>
          <p:nvPr/>
        </p:nvSpPr>
        <p:spPr>
          <a:xfrm>
            <a:off x="9838944" y="347472"/>
            <a:ext cx="1947672" cy="566928"/>
          </a:xfrm>
          <a:prstGeom prst="roundRect">
            <a:avLst>
              <a:gd name="adj" fmla="val 8065"/>
            </a:avLst>
          </a:prstGeom>
          <a:solidFill>
            <a:srgbClr val="F0F3F8"/>
          </a:solidFill>
          <a:ln w="10160">
            <a:solidFill>
              <a:srgbClr val="D7DEE9"/>
            </a:solidFill>
            <a:prstDash val="solid"/>
          </a:ln>
        </p:spPr>
      </p:sp>
      <p:pic>
        <p:nvPicPr>
          <p:cNvPr id="12" name="Image 3" descr="/Users/tazeemmahashin/Downloads/template/frontend/phot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8672" y="466344"/>
            <a:ext cx="310896" cy="31089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332720" y="475488"/>
            <a:ext cx="1225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0A2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Photon</a:t>
            </a:r>
            <a:endParaRPr lang="en-US" sz="730" dirty="0"/>
          </a:p>
        </p:txBody>
      </p:sp>
      <p:sp>
        <p:nvSpPr>
          <p:cNvPr id="14" name="Text 8"/>
          <p:cNvSpPr/>
          <p:nvPr/>
        </p:nvSpPr>
        <p:spPr>
          <a:xfrm>
            <a:off x="10332720" y="658368"/>
            <a:ext cx="1298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b="1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LAYER</a:t>
            </a:r>
            <a:endParaRPr lang="en-US" sz="590" dirty="0"/>
          </a:p>
        </p:txBody>
      </p:sp>
      <p:sp>
        <p:nvSpPr>
          <p:cNvPr id="15" name="Text 9"/>
          <p:cNvSpPr/>
          <p:nvPr/>
        </p:nvSpPr>
        <p:spPr>
          <a:xfrm>
            <a:off x="658368" y="129844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6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investment desk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621792" y="1691640"/>
            <a:ext cx="4754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Citadail</a:t>
            </a:r>
            <a:endParaRPr lang="en-US" sz="5000" dirty="0"/>
          </a:p>
        </p:txBody>
      </p:sp>
      <p:sp>
        <p:nvSpPr>
          <p:cNvPr id="17" name="Text 11"/>
          <p:cNvSpPr/>
          <p:nvPr/>
        </p:nvSpPr>
        <p:spPr>
          <a:xfrm>
            <a:off x="658368" y="2743200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E0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Research, PM review, risk, paper execution, monitoring, and iMessage collaboration around one Thesis Record.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676656" y="3703320"/>
            <a:ext cx="1078992" cy="310896"/>
          </a:xfrm>
          <a:prstGeom prst="roundRect">
            <a:avLst>
              <a:gd name="adj" fmla="val 14706"/>
            </a:avLst>
          </a:prstGeom>
          <a:solidFill>
            <a:srgbClr val="DDE7F4"/>
          </a:solidFill>
          <a:ln w="6350">
            <a:solidFill>
              <a:srgbClr val="D7DEE9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786384" y="3790188"/>
            <a:ext cx="8595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paper-only</a:t>
            </a:r>
            <a:endParaRPr lang="en-US" sz="750" dirty="0"/>
          </a:p>
        </p:txBody>
      </p:sp>
      <p:sp>
        <p:nvSpPr>
          <p:cNvPr id="20" name="Shape 14"/>
          <p:cNvSpPr/>
          <p:nvPr/>
        </p:nvSpPr>
        <p:spPr>
          <a:xfrm>
            <a:off x="1901952" y="3703320"/>
            <a:ext cx="1234440" cy="310896"/>
          </a:xfrm>
          <a:prstGeom prst="roundRect">
            <a:avLst>
              <a:gd name="adj" fmla="val 14706"/>
            </a:avLst>
          </a:prstGeom>
          <a:solidFill>
            <a:srgbClr val="DDE7F4"/>
          </a:solidFill>
          <a:ln w="6350">
            <a:solidFill>
              <a:srgbClr val="D7DEE9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2011680" y="3790188"/>
            <a:ext cx="10149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</a:t>
            </a:r>
            <a:endParaRPr lang="en-US" sz="750" dirty="0"/>
          </a:p>
        </p:txBody>
      </p:sp>
      <p:sp>
        <p:nvSpPr>
          <p:cNvPr id="22" name="Shape 16"/>
          <p:cNvSpPr/>
          <p:nvPr/>
        </p:nvSpPr>
        <p:spPr>
          <a:xfrm>
            <a:off x="3273552" y="3703320"/>
            <a:ext cx="1325880" cy="310896"/>
          </a:xfrm>
          <a:prstGeom prst="roundRect">
            <a:avLst>
              <a:gd name="adj" fmla="val 14706"/>
            </a:avLst>
          </a:prstGeom>
          <a:solidFill>
            <a:srgbClr val="DDE7F4"/>
          </a:solidFill>
          <a:ln w="6350">
            <a:solidFill>
              <a:srgbClr val="D7DEE9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383280" y="3790188"/>
            <a:ext cx="11064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artifacts</a:t>
            </a:r>
            <a:endParaRPr lang="en-US" sz="750" dirty="0"/>
          </a:p>
        </p:txBody>
      </p:sp>
      <p:sp>
        <p:nvSpPr>
          <p:cNvPr id="24" name="Shape 18"/>
          <p:cNvSpPr/>
          <p:nvPr/>
        </p:nvSpPr>
        <p:spPr>
          <a:xfrm>
            <a:off x="4736592" y="3703320"/>
            <a:ext cx="1755648" cy="310896"/>
          </a:xfrm>
          <a:prstGeom prst="roundRect">
            <a:avLst>
              <a:gd name="adj" fmla="val 14706"/>
            </a:avLst>
          </a:prstGeom>
          <a:solidFill>
            <a:srgbClr val="DDE7F4"/>
          </a:solidFill>
          <a:ln w="6350">
            <a:solidFill>
              <a:srgbClr val="D7DEE9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846320" y="3790188"/>
            <a:ext cx="15361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machine-backed proof</a:t>
            </a:r>
            <a:endParaRPr lang="en-US" sz="750" dirty="0"/>
          </a:p>
        </p:txBody>
      </p:sp>
      <p:sp>
        <p:nvSpPr>
          <p:cNvPr id="26" name="Shape 20"/>
          <p:cNvSpPr/>
          <p:nvPr/>
        </p:nvSpPr>
        <p:spPr>
          <a:xfrm>
            <a:off x="6492240" y="1234440"/>
            <a:ext cx="4480560" cy="3529584"/>
          </a:xfrm>
          <a:prstGeom prst="roundRect">
            <a:avLst>
              <a:gd name="adj" fmla="val 1295"/>
            </a:avLst>
          </a:prstGeom>
          <a:solidFill>
            <a:srgbClr val="0F2D69"/>
          </a:solidFill>
          <a:ln w="10160">
            <a:solidFill>
              <a:srgbClr val="224379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784848" y="153619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A8B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DESK STATE</a:t>
            </a:r>
            <a:endParaRPr lang="en-US" sz="680" dirty="0"/>
          </a:p>
        </p:txBody>
      </p:sp>
      <p:sp>
        <p:nvSpPr>
          <p:cNvPr id="28" name="Shape 22"/>
          <p:cNvSpPr/>
          <p:nvPr/>
        </p:nvSpPr>
        <p:spPr>
          <a:xfrm>
            <a:off x="6803136" y="1874520"/>
            <a:ext cx="1261872" cy="786384"/>
          </a:xfrm>
          <a:prstGeom prst="roundRect">
            <a:avLst>
              <a:gd name="adj" fmla="val 5814"/>
            </a:avLst>
          </a:prstGeom>
          <a:solidFill>
            <a:srgbClr val="173B78"/>
          </a:solidFill>
          <a:ln w="10160">
            <a:solidFill>
              <a:srgbClr val="295087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949440" y="2029968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endParaRPr lang="en-US" sz="640" dirty="0"/>
          </a:p>
        </p:txBody>
      </p:sp>
      <p:sp>
        <p:nvSpPr>
          <p:cNvPr id="30" name="Text 24"/>
          <p:cNvSpPr/>
          <p:nvPr/>
        </p:nvSpPr>
        <p:spPr>
          <a:xfrm>
            <a:off x="6949440" y="2313432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+74.4%</a:t>
            </a:r>
            <a:endParaRPr lang="en-US" sz="1550" dirty="0"/>
          </a:p>
        </p:txBody>
      </p:sp>
      <p:sp>
        <p:nvSpPr>
          <p:cNvPr id="31" name="Shape 25"/>
          <p:cNvSpPr/>
          <p:nvPr/>
        </p:nvSpPr>
        <p:spPr>
          <a:xfrm>
            <a:off x="8229600" y="1874520"/>
            <a:ext cx="1261872" cy="786384"/>
          </a:xfrm>
          <a:prstGeom prst="roundRect">
            <a:avLst>
              <a:gd name="adj" fmla="val 5814"/>
            </a:avLst>
          </a:prstGeom>
          <a:solidFill>
            <a:srgbClr val="173B78"/>
          </a:solidFill>
          <a:ln w="10160">
            <a:solidFill>
              <a:srgbClr val="295087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8375904" y="2029968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RATE</a:t>
            </a:r>
            <a:endParaRPr lang="en-US" sz="640" dirty="0"/>
          </a:p>
        </p:txBody>
      </p:sp>
      <p:sp>
        <p:nvSpPr>
          <p:cNvPr id="33" name="Text 27"/>
          <p:cNvSpPr/>
          <p:nvPr/>
        </p:nvSpPr>
        <p:spPr>
          <a:xfrm>
            <a:off x="8375904" y="2313432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54.5%</a:t>
            </a:r>
            <a:endParaRPr lang="en-US" sz="1550" dirty="0"/>
          </a:p>
        </p:txBody>
      </p:sp>
      <p:sp>
        <p:nvSpPr>
          <p:cNvPr id="34" name="Shape 28"/>
          <p:cNvSpPr/>
          <p:nvPr/>
        </p:nvSpPr>
        <p:spPr>
          <a:xfrm>
            <a:off x="9656064" y="1874520"/>
            <a:ext cx="987552" cy="786384"/>
          </a:xfrm>
          <a:prstGeom prst="roundRect">
            <a:avLst>
              <a:gd name="adj" fmla="val 5814"/>
            </a:avLst>
          </a:prstGeom>
          <a:solidFill>
            <a:srgbClr val="173B78"/>
          </a:solidFill>
          <a:ln w="10160">
            <a:solidFill>
              <a:srgbClr val="295087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9802368" y="2029968"/>
            <a:ext cx="6949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BREACHES</a:t>
            </a:r>
            <a:endParaRPr lang="en-US" sz="640" dirty="0"/>
          </a:p>
        </p:txBody>
      </p:sp>
      <p:sp>
        <p:nvSpPr>
          <p:cNvPr id="36" name="Text 30"/>
          <p:cNvSpPr/>
          <p:nvPr/>
        </p:nvSpPr>
        <p:spPr>
          <a:xfrm>
            <a:off x="9802368" y="2313432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550" dirty="0"/>
          </a:p>
        </p:txBody>
      </p:sp>
      <p:sp>
        <p:nvSpPr>
          <p:cNvPr id="37" name="Shape 31"/>
          <p:cNvSpPr/>
          <p:nvPr/>
        </p:nvSpPr>
        <p:spPr>
          <a:xfrm>
            <a:off x="6967728" y="3986784"/>
            <a:ext cx="3611880" cy="0"/>
          </a:xfrm>
          <a:prstGeom prst="line">
            <a:avLst/>
          </a:prstGeom>
          <a:noFill/>
          <a:ln w="8890">
            <a:solidFill>
              <a:srgbClr val="294978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6967728" y="3502152"/>
            <a:ext cx="3611880" cy="0"/>
          </a:xfrm>
          <a:prstGeom prst="line">
            <a:avLst/>
          </a:prstGeom>
          <a:noFill/>
          <a:ln w="5715">
            <a:solidFill>
              <a:srgbClr val="294978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6967728" y="3017520"/>
            <a:ext cx="3611880" cy="0"/>
          </a:xfrm>
          <a:prstGeom prst="line">
            <a:avLst/>
          </a:prstGeom>
          <a:noFill/>
          <a:ln w="5715">
            <a:solidFill>
              <a:srgbClr val="294978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6967728" y="3986784"/>
            <a:ext cx="451485" cy="-39294"/>
          </a:xfrm>
          <a:prstGeom prst="line">
            <a:avLst/>
          </a:prstGeom>
          <a:noFill/>
          <a:ln w="29210">
            <a:solidFill>
              <a:srgbClr val="74C69D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7419213" y="3947490"/>
            <a:ext cx="451485" cy="-78589"/>
          </a:xfrm>
          <a:prstGeom prst="line">
            <a:avLst/>
          </a:prstGeom>
          <a:noFill/>
          <a:ln w="29210">
            <a:solidFill>
              <a:srgbClr val="74C69D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7870698" y="3868901"/>
            <a:ext cx="451485" cy="52393"/>
          </a:xfrm>
          <a:prstGeom prst="line">
            <a:avLst/>
          </a:prstGeom>
          <a:noFill/>
          <a:ln w="29210">
            <a:solidFill>
              <a:srgbClr val="74C69D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8322183" y="3921293"/>
            <a:ext cx="451485" cy="-222669"/>
          </a:xfrm>
          <a:prstGeom prst="line">
            <a:avLst/>
          </a:prstGeom>
          <a:noFill/>
          <a:ln w="29210">
            <a:solidFill>
              <a:srgbClr val="74C69D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8773668" y="3698624"/>
            <a:ext cx="451485" cy="-248865"/>
          </a:xfrm>
          <a:prstGeom prst="line">
            <a:avLst/>
          </a:prstGeom>
          <a:noFill/>
          <a:ln w="29210">
            <a:solidFill>
              <a:srgbClr val="74C69D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9225153" y="3449759"/>
            <a:ext cx="451485" cy="65491"/>
          </a:xfrm>
          <a:prstGeom prst="line">
            <a:avLst/>
          </a:prstGeom>
          <a:noFill/>
          <a:ln w="29210">
            <a:solidFill>
              <a:srgbClr val="74C69D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9676638" y="3515250"/>
            <a:ext cx="451485" cy="-248865"/>
          </a:xfrm>
          <a:prstGeom prst="line">
            <a:avLst/>
          </a:prstGeom>
          <a:noFill/>
          <a:ln w="29210">
            <a:solidFill>
              <a:srgbClr val="74C69D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10128123" y="3266385"/>
            <a:ext cx="451485" cy="-248865"/>
          </a:xfrm>
          <a:prstGeom prst="line">
            <a:avLst/>
          </a:prstGeom>
          <a:noFill/>
          <a:ln w="29210">
            <a:solidFill>
              <a:srgbClr val="74C69D"/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6935724" y="3954780"/>
            <a:ext cx="64008" cy="64008"/>
          </a:xfrm>
          <a:prstGeom prst="ellipse">
            <a:avLst/>
          </a:prstGeom>
          <a:solidFill>
            <a:srgbClr val="74C69D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7838694" y="3836897"/>
            <a:ext cx="64008" cy="64008"/>
          </a:xfrm>
          <a:prstGeom prst="ellipse">
            <a:avLst/>
          </a:prstGeom>
          <a:solidFill>
            <a:srgbClr val="74C69D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8741664" y="3666620"/>
            <a:ext cx="64008" cy="64008"/>
          </a:xfrm>
          <a:prstGeom prst="ellipse">
            <a:avLst/>
          </a:prstGeom>
          <a:solidFill>
            <a:srgbClr val="74C69D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9644634" y="3483246"/>
            <a:ext cx="64008" cy="64008"/>
          </a:xfrm>
          <a:prstGeom prst="ellipse">
            <a:avLst/>
          </a:prstGeom>
          <a:solidFill>
            <a:srgbClr val="74C69D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10547604" y="2985516"/>
            <a:ext cx="64008" cy="64008"/>
          </a:xfrm>
          <a:prstGeom prst="ellipse">
            <a:avLst/>
          </a:prstGeom>
          <a:solidFill>
            <a:srgbClr val="74C69D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53" name="Text 47"/>
          <p:cNvSpPr/>
          <p:nvPr/>
        </p:nvSpPr>
        <p:spPr>
          <a:xfrm>
            <a:off x="6839712" y="42245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CAD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on Dedalus completed one replay step. PM package delivered. Thesis-break audit logged.</a:t>
            </a:r>
            <a:endParaRPr lang="en-US" sz="820" dirty="0"/>
          </a:p>
        </p:txBody>
      </p:sp>
      <p:sp>
        <p:nvSpPr>
          <p:cNvPr id="54" name="Shape 48"/>
          <p:cNvSpPr/>
          <p:nvPr/>
        </p:nvSpPr>
        <p:spPr>
          <a:xfrm>
            <a:off x="475488" y="6446520"/>
            <a:ext cx="11201400" cy="0"/>
          </a:xfrm>
          <a:prstGeom prst="line">
            <a:avLst/>
          </a:prstGeom>
          <a:noFill/>
          <a:ln w="8890">
            <a:solidFill>
              <a:srgbClr val="D7DEE9"/>
            </a:solidFill>
            <a:prstDash val="solid"/>
          </a:ln>
        </p:spPr>
      </p:sp>
      <p:sp>
        <p:nvSpPr>
          <p:cNvPr id="55" name="Text 49"/>
          <p:cNvSpPr/>
          <p:nvPr/>
        </p:nvSpPr>
        <p:spPr>
          <a:xfrm>
            <a:off x="502920" y="653796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CITADAIL</a:t>
            </a:r>
            <a:endParaRPr lang="en-US" sz="680" dirty="0"/>
          </a:p>
        </p:txBody>
      </p:sp>
      <p:sp>
        <p:nvSpPr>
          <p:cNvPr id="56" name="Text 50"/>
          <p:cNvSpPr/>
          <p:nvPr/>
        </p:nvSpPr>
        <p:spPr>
          <a:xfrm>
            <a:off x="10241280" y="651967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azeemmahashin/Downloads/template/frontend/app/Citad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9829" y="301752"/>
            <a:ext cx="568821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548640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730" dirty="0"/>
          </a:p>
        </p:txBody>
      </p:sp>
      <p:sp>
        <p:nvSpPr>
          <p:cNvPr id="4" name="Text 1"/>
          <p:cNvSpPr/>
          <p:nvPr/>
        </p:nvSpPr>
        <p:spPr>
          <a:xfrm>
            <a:off x="566928" y="841248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research is not one task.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66928" y="144475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work is a chain of decisions across research, PM, risk, desk, and monitoring. Most AI tools stop at narrative.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658368" y="2084832"/>
            <a:ext cx="2423160" cy="269748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0160">
            <a:solidFill>
              <a:srgbClr val="D7DE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" y="2331720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80" dirty="0"/>
          </a:p>
        </p:txBody>
      </p:sp>
      <p:sp>
        <p:nvSpPr>
          <p:cNvPr id="8" name="Text 5"/>
          <p:cNvSpPr/>
          <p:nvPr/>
        </p:nvSpPr>
        <p:spPr>
          <a:xfrm>
            <a:off x="841248" y="25786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41248" y="3054096"/>
            <a:ext cx="1874520" cy="0"/>
          </a:xfrm>
          <a:prstGeom prst="line">
            <a:avLst/>
          </a:prstGeom>
          <a:noFill/>
          <a:ln w="9525">
            <a:solidFill>
              <a:srgbClr val="D7DE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331012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2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Scattered sources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41248" y="3767328"/>
            <a:ext cx="19933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 and model drift apart</a:t>
            </a:r>
            <a:endParaRPr lang="en-US" sz="920" dirty="0"/>
          </a:p>
        </p:txBody>
      </p:sp>
      <p:sp>
        <p:nvSpPr>
          <p:cNvPr id="12" name="Shape 9"/>
          <p:cNvSpPr/>
          <p:nvPr/>
        </p:nvSpPr>
        <p:spPr>
          <a:xfrm>
            <a:off x="3429000" y="2084832"/>
            <a:ext cx="2423160" cy="269748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0160">
            <a:solidFill>
              <a:srgbClr val="D7DE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11880" y="2331720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80" dirty="0"/>
          </a:p>
        </p:txBody>
      </p:sp>
      <p:sp>
        <p:nvSpPr>
          <p:cNvPr id="14" name="Text 11"/>
          <p:cNvSpPr/>
          <p:nvPr/>
        </p:nvSpPr>
        <p:spPr>
          <a:xfrm>
            <a:off x="3611880" y="25786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3611880" y="3054096"/>
            <a:ext cx="1874520" cy="0"/>
          </a:xfrm>
          <a:prstGeom prst="line">
            <a:avLst/>
          </a:prstGeom>
          <a:noFill/>
          <a:ln w="9525">
            <a:solidFill>
              <a:srgbClr val="D7DEE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11880" y="331012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2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short path to conviction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611880" y="3767328"/>
            <a:ext cx="19933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what breaks the idea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6199632" y="2084832"/>
            <a:ext cx="2423160" cy="269748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0160">
            <a:solidFill>
              <a:srgbClr val="D7DEE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82512" y="2331720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80" dirty="0"/>
          </a:p>
        </p:txBody>
      </p:sp>
      <p:sp>
        <p:nvSpPr>
          <p:cNvPr id="20" name="Text 17"/>
          <p:cNvSpPr/>
          <p:nvPr/>
        </p:nvSpPr>
        <p:spPr>
          <a:xfrm>
            <a:off x="6382512" y="25786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6382512" y="3054096"/>
            <a:ext cx="1874520" cy="0"/>
          </a:xfrm>
          <a:prstGeom prst="line">
            <a:avLst/>
          </a:prstGeom>
          <a:noFill/>
          <a:ln w="9525">
            <a:solidFill>
              <a:srgbClr val="D7DEE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82512" y="331012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2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size and downside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382512" y="3767328"/>
            <a:ext cx="19933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Rejects weak controls</a:t>
            </a:r>
            <a:endParaRPr lang="en-US" sz="920" dirty="0"/>
          </a:p>
        </p:txBody>
      </p:sp>
      <p:sp>
        <p:nvSpPr>
          <p:cNvPr id="24" name="Shape 21"/>
          <p:cNvSpPr/>
          <p:nvPr/>
        </p:nvSpPr>
        <p:spPr>
          <a:xfrm>
            <a:off x="8970264" y="2084832"/>
            <a:ext cx="2423160" cy="269748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0160">
            <a:solidFill>
              <a:srgbClr val="D7DEE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153144" y="2331720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80" dirty="0"/>
          </a:p>
        </p:txBody>
      </p:sp>
      <p:sp>
        <p:nvSpPr>
          <p:cNvPr id="26" name="Text 23"/>
          <p:cNvSpPr/>
          <p:nvPr/>
        </p:nvSpPr>
        <p:spPr>
          <a:xfrm>
            <a:off x="9153144" y="25786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9153144" y="3054096"/>
            <a:ext cx="1874520" cy="0"/>
          </a:xfrm>
          <a:prstGeom prst="line">
            <a:avLst/>
          </a:prstGeom>
          <a:noFill/>
          <a:ln w="9525">
            <a:solidFill>
              <a:srgbClr val="D7DEE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153144" y="331012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2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trade plan and P&amp;L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9153144" y="3767328"/>
            <a:ext cx="19933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 after the catalyst</a:t>
            </a:r>
            <a:endParaRPr lang="en-US" sz="920" dirty="0"/>
          </a:p>
        </p:txBody>
      </p:sp>
      <p:sp>
        <p:nvSpPr>
          <p:cNvPr id="30" name="Shape 27"/>
          <p:cNvSpPr/>
          <p:nvPr/>
        </p:nvSpPr>
        <p:spPr>
          <a:xfrm>
            <a:off x="2706624" y="3429000"/>
            <a:ext cx="384048" cy="0"/>
          </a:xfrm>
          <a:prstGeom prst="line">
            <a:avLst/>
          </a:prstGeom>
          <a:noFill/>
          <a:ln w="15240">
            <a:solidFill>
              <a:srgbClr val="A64242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5468112" y="3429000"/>
            <a:ext cx="384048" cy="0"/>
          </a:xfrm>
          <a:prstGeom prst="line">
            <a:avLst/>
          </a:prstGeom>
          <a:noFill/>
          <a:ln w="15240">
            <a:solidFill>
              <a:srgbClr val="A64242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8229600" y="3429000"/>
            <a:ext cx="384048" cy="0"/>
          </a:xfrm>
          <a:prstGeom prst="line">
            <a:avLst/>
          </a:prstGeom>
          <a:noFill/>
          <a:ln w="15240">
            <a:solidFill>
              <a:srgbClr val="A64242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1207008" y="5285232"/>
            <a:ext cx="9784080" cy="530352"/>
          </a:xfrm>
          <a:prstGeom prst="roundRect">
            <a:avLst>
              <a:gd name="adj" fmla="val 8621"/>
            </a:avLst>
          </a:prstGeom>
          <a:solidFill>
            <a:srgbClr val="FFF7EC"/>
          </a:solidFill>
          <a:ln w="10160">
            <a:solidFill>
              <a:srgbClr val="E9D4A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444752" y="5431536"/>
            <a:ext cx="9235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4B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is not 'can an LLM write a memo?' It is whether an AI system can preserve context, create artifacts, pass gates, manage a paper position, and explain every decision.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75488" y="6446520"/>
            <a:ext cx="11201400" cy="0"/>
          </a:xfrm>
          <a:prstGeom prst="line">
            <a:avLst/>
          </a:prstGeom>
          <a:noFill/>
          <a:ln w="8890">
            <a:solidFill>
              <a:srgbClr val="D7DEE9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02920" y="653796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CITADAIL</a:t>
            </a:r>
            <a:endParaRPr lang="en-US" sz="680" dirty="0"/>
          </a:p>
        </p:txBody>
      </p:sp>
      <p:sp>
        <p:nvSpPr>
          <p:cNvPr id="37" name="Text 34"/>
          <p:cNvSpPr/>
          <p:nvPr/>
        </p:nvSpPr>
        <p:spPr>
          <a:xfrm>
            <a:off x="10241280" y="651967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azeemmahashin/Downloads/template/frontend/app/Citad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9829" y="301752"/>
            <a:ext cx="568821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548640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730" dirty="0"/>
          </a:p>
        </p:txBody>
      </p:sp>
      <p:sp>
        <p:nvSpPr>
          <p:cNvPr id="4" name="Text 1"/>
          <p:cNvSpPr/>
          <p:nvPr/>
        </p:nvSpPr>
        <p:spPr>
          <a:xfrm>
            <a:off x="566928" y="841248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Thesis Record powers the desk.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66928" y="144475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converge into a single stateful object. Everything else is a view, artifact, decision, or action derived from it.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731520" y="1847088"/>
            <a:ext cx="117043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D7DE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" y="1933956"/>
            <a:ext cx="9509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Filings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084832" y="2020824"/>
            <a:ext cx="1773936" cy="0"/>
          </a:xfrm>
          <a:prstGeom prst="line">
            <a:avLst/>
          </a:prstGeom>
          <a:noFill/>
          <a:ln w="8890">
            <a:solidFill>
              <a:srgbClr val="8EA1BB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1188720" y="2743200"/>
            <a:ext cx="117043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D7DE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98448" y="2830068"/>
            <a:ext cx="9509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Fundamentals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542032" y="2916936"/>
            <a:ext cx="1316736" cy="0"/>
          </a:xfrm>
          <a:prstGeom prst="line">
            <a:avLst/>
          </a:prstGeom>
          <a:noFill/>
          <a:ln w="8890">
            <a:solidFill>
              <a:srgbClr val="8EA1BB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658368" y="3639312"/>
            <a:ext cx="117043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D7DE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3726180"/>
            <a:ext cx="9509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2011680" y="3813048"/>
            <a:ext cx="1847088" cy="0"/>
          </a:xfrm>
          <a:prstGeom prst="line">
            <a:avLst/>
          </a:prstGeom>
          <a:noFill/>
          <a:ln w="8890">
            <a:solidFill>
              <a:srgbClr val="8EA1BB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1353312" y="4480560"/>
            <a:ext cx="117043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D7DEE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463040" y="4567428"/>
            <a:ext cx="9509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2706624" y="4654296"/>
            <a:ext cx="1152144" cy="0"/>
          </a:xfrm>
          <a:prstGeom prst="line">
            <a:avLst/>
          </a:prstGeom>
          <a:noFill/>
          <a:ln w="8890">
            <a:solidFill>
              <a:srgbClr val="8EA1BB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749808" y="5276088"/>
            <a:ext cx="117043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D7DEE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59536" y="5362956"/>
            <a:ext cx="9509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Transcripts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2103120" y="5449824"/>
            <a:ext cx="1755648" cy="0"/>
          </a:xfrm>
          <a:prstGeom prst="line">
            <a:avLst/>
          </a:prstGeom>
          <a:noFill/>
          <a:ln w="8890">
            <a:solidFill>
              <a:srgbClr val="8EA1BB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3977640" y="2331720"/>
            <a:ext cx="2743200" cy="2057400"/>
          </a:xfrm>
          <a:prstGeom prst="roundRect">
            <a:avLst>
              <a:gd name="adj" fmla="val 2222"/>
            </a:avLst>
          </a:prstGeom>
          <a:solidFill>
            <a:srgbClr val="0A2259"/>
          </a:solidFill>
          <a:ln w="10160">
            <a:solidFill>
              <a:srgbClr val="102B66"/>
            </a:solidFill>
            <a:prstDash val="solid"/>
          </a:ln>
          <a:effectLst>
            <a:outerShdw sx="100000" sy="100000" kx="0" ky="0" algn="bl" rotWithShape="0" blurRad="12700" dist="12700" dir="2700000">
              <a:srgbClr val="28466E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297680" y="2679192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AFC0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OBJECT</a:t>
            </a:r>
            <a:endParaRPr lang="en-US" sz="680" dirty="0"/>
          </a:p>
        </p:txBody>
      </p:sp>
      <p:sp>
        <p:nvSpPr>
          <p:cNvPr id="23" name="Text 20"/>
          <p:cNvSpPr/>
          <p:nvPr/>
        </p:nvSpPr>
        <p:spPr>
          <a:xfrm>
            <a:off x="4279392" y="305409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 Record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315968" y="354787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D5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| conviction | evidence | assumptions | catalysts | risks | invalidation | paper position | monitoring</a:t>
            </a:r>
            <a:endParaRPr lang="en-US" sz="720" dirty="0"/>
          </a:p>
        </p:txBody>
      </p:sp>
      <p:sp>
        <p:nvSpPr>
          <p:cNvPr id="25" name="Shape 22"/>
          <p:cNvSpPr/>
          <p:nvPr/>
        </p:nvSpPr>
        <p:spPr>
          <a:xfrm>
            <a:off x="6858000" y="2029968"/>
            <a:ext cx="630936" cy="0"/>
          </a:xfrm>
          <a:prstGeom prst="line">
            <a:avLst/>
          </a:prstGeom>
          <a:noFill/>
          <a:ln w="10160">
            <a:solidFill>
              <a:srgbClr val="0A2259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7635240" y="1856232"/>
            <a:ext cx="1481328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D7DEE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744968" y="1943100"/>
            <a:ext cx="1261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6858000" y="2871216"/>
            <a:ext cx="1316736" cy="0"/>
          </a:xfrm>
          <a:prstGeom prst="line">
            <a:avLst/>
          </a:prstGeom>
          <a:noFill/>
          <a:ln w="10160">
            <a:solidFill>
              <a:srgbClr val="0A2259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8321040" y="2697480"/>
            <a:ext cx="1481328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D7DEE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430768" y="2784348"/>
            <a:ext cx="1261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Model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6858000" y="3739896"/>
            <a:ext cx="813816" cy="0"/>
          </a:xfrm>
          <a:prstGeom prst="line">
            <a:avLst/>
          </a:prstGeom>
          <a:noFill/>
          <a:ln w="10160">
            <a:solidFill>
              <a:srgbClr val="0A2259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7818120" y="3566160"/>
            <a:ext cx="1481328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D7DEE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927848" y="3653028"/>
            <a:ext cx="1261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Review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6858000" y="4599432"/>
            <a:ext cx="1481328" cy="0"/>
          </a:xfrm>
          <a:prstGeom prst="line">
            <a:avLst/>
          </a:prstGeom>
          <a:noFill/>
          <a:ln w="10160">
            <a:solidFill>
              <a:srgbClr val="0A2259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8485632" y="4425696"/>
            <a:ext cx="1481328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D7DEE9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595360" y="4512564"/>
            <a:ext cx="1261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Desk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6858000" y="5458968"/>
            <a:ext cx="768096" cy="0"/>
          </a:xfrm>
          <a:prstGeom prst="line">
            <a:avLst/>
          </a:prstGeom>
          <a:noFill/>
          <a:ln w="10160">
            <a:solidFill>
              <a:srgbClr val="0A2259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7772400" y="5285232"/>
            <a:ext cx="1481328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D7DEE9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882128" y="5372100"/>
            <a:ext cx="1261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Book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475488" y="6446520"/>
            <a:ext cx="11201400" cy="0"/>
          </a:xfrm>
          <a:prstGeom prst="line">
            <a:avLst/>
          </a:prstGeom>
          <a:noFill/>
          <a:ln w="8890">
            <a:solidFill>
              <a:srgbClr val="D7DEE9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02920" y="653796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CITADAIL</a:t>
            </a:r>
            <a:endParaRPr lang="en-US" sz="680" dirty="0"/>
          </a:p>
        </p:txBody>
      </p:sp>
      <p:sp>
        <p:nvSpPr>
          <p:cNvPr id="42" name="Text 39"/>
          <p:cNvSpPr/>
          <p:nvPr/>
        </p:nvSpPr>
        <p:spPr>
          <a:xfrm>
            <a:off x="10241280" y="651967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azeemmahashin/Downloads/template/frontend/app/Citad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9829" y="301752"/>
            <a:ext cx="568821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548640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 MODE</a:t>
            </a:r>
            <a:endParaRPr lang="en-US" sz="730" dirty="0"/>
          </a:p>
        </p:txBody>
      </p:sp>
      <p:sp>
        <p:nvSpPr>
          <p:cNvPr id="4" name="Text 1"/>
          <p:cNvSpPr/>
          <p:nvPr/>
        </p:nvSpPr>
        <p:spPr>
          <a:xfrm>
            <a:off x="566928" y="841248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Human-guided thesis workbench.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66928" y="144475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analyst drives the idea. Citadail generates the package, routes decisions, and keeps artifacts tied to the same thesis.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658368" y="1847088"/>
            <a:ext cx="196596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7DE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048256"/>
            <a:ext cx="15727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</a:t>
            </a:r>
            <a:endParaRPr lang="en-US" sz="680" dirty="0"/>
          </a:p>
        </p:txBody>
      </p:sp>
      <p:sp>
        <p:nvSpPr>
          <p:cNvPr id="8" name="Text 5"/>
          <p:cNvSpPr/>
          <p:nvPr/>
        </p:nvSpPr>
        <p:spPr>
          <a:xfrm>
            <a:off x="822960" y="235000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ticker search and coverage desk</a:t>
            </a:r>
            <a:endParaRPr lang="en-US" sz="820" dirty="0"/>
          </a:p>
        </p:txBody>
      </p:sp>
      <p:sp>
        <p:nvSpPr>
          <p:cNvPr id="9" name="Shape 6"/>
          <p:cNvSpPr/>
          <p:nvPr/>
        </p:nvSpPr>
        <p:spPr>
          <a:xfrm>
            <a:off x="2633472" y="2414016"/>
            <a:ext cx="182880" cy="0"/>
          </a:xfrm>
          <a:prstGeom prst="line">
            <a:avLst/>
          </a:prstGeom>
          <a:noFill/>
          <a:ln w="12700">
            <a:solidFill>
              <a:srgbClr val="0A2259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926080" y="1847088"/>
            <a:ext cx="196596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7DEE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90672" y="2048256"/>
            <a:ext cx="15727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3090672" y="235000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/ hold / sell plus rationale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4901184" y="2414016"/>
            <a:ext cx="182880" cy="0"/>
          </a:xfrm>
          <a:prstGeom prst="line">
            <a:avLst/>
          </a:prstGeom>
          <a:noFill/>
          <a:ln w="12700">
            <a:solidFill>
              <a:srgbClr val="0A2259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5193792" y="1847088"/>
            <a:ext cx="1965960" cy="1143000"/>
          </a:xfrm>
          <a:prstGeom prst="roundRect">
            <a:avLst>
              <a:gd name="adj" fmla="val 4000"/>
            </a:avLst>
          </a:prstGeom>
          <a:solidFill>
            <a:srgbClr val="0A2259"/>
          </a:solidFill>
          <a:ln w="10160">
            <a:solidFill>
              <a:srgbClr val="0A225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58384" y="2048256"/>
            <a:ext cx="15727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BCC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</a:t>
            </a:r>
            <a:endParaRPr lang="en-US" sz="680" dirty="0"/>
          </a:p>
        </p:txBody>
      </p:sp>
      <p:sp>
        <p:nvSpPr>
          <p:cNvPr id="16" name="Text 13"/>
          <p:cNvSpPr/>
          <p:nvPr/>
        </p:nvSpPr>
        <p:spPr>
          <a:xfrm>
            <a:off x="5358384" y="235000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memo, model, PM deck</a:t>
            </a:r>
            <a:endParaRPr lang="en-US" sz="820" dirty="0"/>
          </a:p>
        </p:txBody>
      </p:sp>
      <p:sp>
        <p:nvSpPr>
          <p:cNvPr id="17" name="Shape 14"/>
          <p:cNvSpPr/>
          <p:nvPr/>
        </p:nvSpPr>
        <p:spPr>
          <a:xfrm>
            <a:off x="7168896" y="2414016"/>
            <a:ext cx="182880" cy="0"/>
          </a:xfrm>
          <a:prstGeom prst="line">
            <a:avLst/>
          </a:prstGeom>
          <a:noFill/>
          <a:ln w="12700">
            <a:solidFill>
              <a:srgbClr val="0A2259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7461504" y="1847088"/>
            <a:ext cx="196596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7DEE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26096" y="2048256"/>
            <a:ext cx="15727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680" dirty="0"/>
          </a:p>
        </p:txBody>
      </p:sp>
      <p:sp>
        <p:nvSpPr>
          <p:cNvPr id="20" name="Text 17"/>
          <p:cNvSpPr/>
          <p:nvPr/>
        </p:nvSpPr>
        <p:spPr>
          <a:xfrm>
            <a:off x="7626096" y="235000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and risk gates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9436608" y="2414016"/>
            <a:ext cx="182880" cy="0"/>
          </a:xfrm>
          <a:prstGeom prst="line">
            <a:avLst/>
          </a:prstGeom>
          <a:noFill/>
          <a:ln w="12700">
            <a:solidFill>
              <a:srgbClr val="0A2259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9729216" y="1847088"/>
            <a:ext cx="196596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7DEE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893808" y="2048256"/>
            <a:ext cx="15727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</a:t>
            </a:r>
            <a:endParaRPr lang="en-US" sz="680" dirty="0"/>
          </a:p>
        </p:txBody>
      </p:sp>
      <p:sp>
        <p:nvSpPr>
          <p:cNvPr id="24" name="Text 21"/>
          <p:cNvSpPr/>
          <p:nvPr/>
        </p:nvSpPr>
        <p:spPr>
          <a:xfrm>
            <a:off x="9893808" y="235000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trade and monitor</a:t>
            </a:r>
            <a:endParaRPr lang="en-US" sz="820" dirty="0"/>
          </a:p>
        </p:txBody>
      </p:sp>
      <p:sp>
        <p:nvSpPr>
          <p:cNvPr id="25" name="Shape 22"/>
          <p:cNvSpPr/>
          <p:nvPr/>
        </p:nvSpPr>
        <p:spPr>
          <a:xfrm>
            <a:off x="658368" y="3657600"/>
            <a:ext cx="3246120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0160">
            <a:solidFill>
              <a:srgbClr val="D7DEE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68680" y="3913632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PACKAGE</a:t>
            </a:r>
            <a:endParaRPr lang="en-US" sz="680" dirty="0"/>
          </a:p>
        </p:txBody>
      </p:sp>
      <p:sp>
        <p:nvSpPr>
          <p:cNvPr id="27" name="Shape 24"/>
          <p:cNvSpPr/>
          <p:nvPr/>
        </p:nvSpPr>
        <p:spPr>
          <a:xfrm>
            <a:off x="932688" y="4297680"/>
            <a:ext cx="7315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0160">
            <a:solidFill>
              <a:srgbClr val="D7DEE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78992" y="4453128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</a:t>
            </a:r>
            <a:endParaRPr lang="en-US" sz="680" dirty="0"/>
          </a:p>
        </p:txBody>
      </p:sp>
      <p:sp>
        <p:nvSpPr>
          <p:cNvPr id="29" name="Shape 26"/>
          <p:cNvSpPr/>
          <p:nvPr/>
        </p:nvSpPr>
        <p:spPr>
          <a:xfrm>
            <a:off x="1078992" y="4736592"/>
            <a:ext cx="289682" cy="64008"/>
          </a:xfrm>
          <a:prstGeom prst="rect">
            <a:avLst/>
          </a:prstGeom>
          <a:solidFill>
            <a:srgbClr val="C8D2DF"/>
          </a:solidFill>
          <a:ln w="12700">
            <a:solidFill>
              <a:srgbClr val="C8D2DF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078992" y="4992624"/>
            <a:ext cx="228600" cy="64008"/>
          </a:xfrm>
          <a:prstGeom prst="rect">
            <a:avLst/>
          </a:prstGeom>
          <a:solidFill>
            <a:srgbClr val="C8D2DF"/>
          </a:solidFill>
          <a:ln w="12700">
            <a:solidFill>
              <a:srgbClr val="C8D2DF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078992" y="5248656"/>
            <a:ext cx="273588" cy="64008"/>
          </a:xfrm>
          <a:prstGeom prst="rect">
            <a:avLst/>
          </a:prstGeom>
          <a:solidFill>
            <a:srgbClr val="C8D2DF"/>
          </a:solidFill>
          <a:ln w="12700">
            <a:solidFill>
              <a:srgbClr val="C8D2DF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847088" y="4297680"/>
            <a:ext cx="7315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0160">
            <a:solidFill>
              <a:srgbClr val="D7DEE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993392" y="4453128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680" dirty="0"/>
          </a:p>
        </p:txBody>
      </p:sp>
      <p:sp>
        <p:nvSpPr>
          <p:cNvPr id="34" name="Shape 31"/>
          <p:cNvSpPr/>
          <p:nvPr/>
        </p:nvSpPr>
        <p:spPr>
          <a:xfrm>
            <a:off x="1993392" y="4736592"/>
            <a:ext cx="228600" cy="64008"/>
          </a:xfrm>
          <a:prstGeom prst="rect">
            <a:avLst/>
          </a:prstGeom>
          <a:solidFill>
            <a:srgbClr val="7EA6CF"/>
          </a:solidFill>
          <a:ln w="12700">
            <a:solidFill>
              <a:srgbClr val="7EA6CF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993392" y="4992624"/>
            <a:ext cx="305775" cy="64008"/>
          </a:xfrm>
          <a:prstGeom prst="rect">
            <a:avLst/>
          </a:prstGeom>
          <a:solidFill>
            <a:srgbClr val="7EA6CF"/>
          </a:solidFill>
          <a:ln w="12700">
            <a:solidFill>
              <a:srgbClr val="7EA6CF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993392" y="5248656"/>
            <a:ext cx="249448" cy="64008"/>
          </a:xfrm>
          <a:prstGeom prst="rect">
            <a:avLst/>
          </a:prstGeom>
          <a:solidFill>
            <a:srgbClr val="7EA6CF"/>
          </a:solidFill>
          <a:ln w="12700">
            <a:solidFill>
              <a:srgbClr val="7EA6CF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761488" y="4297680"/>
            <a:ext cx="7315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0160">
            <a:solidFill>
              <a:srgbClr val="D7DEE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907792" y="4453128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</a:t>
            </a:r>
            <a:endParaRPr lang="en-US" sz="680" dirty="0"/>
          </a:p>
        </p:txBody>
      </p:sp>
      <p:sp>
        <p:nvSpPr>
          <p:cNvPr id="39" name="Shape 36"/>
          <p:cNvSpPr/>
          <p:nvPr/>
        </p:nvSpPr>
        <p:spPr>
          <a:xfrm>
            <a:off x="2907792" y="4736592"/>
            <a:ext cx="281635" cy="64008"/>
          </a:xfrm>
          <a:prstGeom prst="rect">
            <a:avLst/>
          </a:prstGeom>
          <a:solidFill>
            <a:srgbClr val="A5B6C9"/>
          </a:solidFill>
          <a:ln w="12700">
            <a:solidFill>
              <a:srgbClr val="A5B6C9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907792" y="4992624"/>
            <a:ext cx="228600" cy="64008"/>
          </a:xfrm>
          <a:prstGeom prst="rect">
            <a:avLst/>
          </a:prstGeom>
          <a:solidFill>
            <a:srgbClr val="A5B6C9"/>
          </a:solidFill>
          <a:ln w="12700">
            <a:solidFill>
              <a:srgbClr val="A5B6C9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907792" y="5248656"/>
            <a:ext cx="321869" cy="64008"/>
          </a:xfrm>
          <a:prstGeom prst="rect">
            <a:avLst/>
          </a:prstGeom>
          <a:solidFill>
            <a:srgbClr val="A5B6C9"/>
          </a:solidFill>
          <a:ln w="12700">
            <a:solidFill>
              <a:srgbClr val="A5B6C9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224528" y="3657600"/>
            <a:ext cx="3474720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0160">
            <a:solidFill>
              <a:srgbClr val="D7DEE9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443984" y="3913632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CONTROLS</a:t>
            </a:r>
            <a:endParaRPr lang="en-US" sz="680" dirty="0"/>
          </a:p>
        </p:txBody>
      </p:sp>
      <p:sp>
        <p:nvSpPr>
          <p:cNvPr id="44" name="Shape 41"/>
          <p:cNvSpPr/>
          <p:nvPr/>
        </p:nvSpPr>
        <p:spPr>
          <a:xfrm>
            <a:off x="4480560" y="43159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E8F4ED"/>
          </a:solidFill>
          <a:ln w="6350">
            <a:solidFill>
              <a:srgbClr val="D7DEE9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590288" y="4402836"/>
            <a:ext cx="9692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7D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to Risk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5815584" y="4315968"/>
            <a:ext cx="950976" cy="310896"/>
          </a:xfrm>
          <a:prstGeom prst="roundRect">
            <a:avLst>
              <a:gd name="adj" fmla="val 14706"/>
            </a:avLst>
          </a:prstGeom>
          <a:solidFill>
            <a:srgbClr val="F8F1E2"/>
          </a:solidFill>
          <a:ln w="6350">
            <a:solidFill>
              <a:srgbClr val="D7DEE9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925312" y="4402836"/>
            <a:ext cx="731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7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Back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6903720" y="4315968"/>
            <a:ext cx="621792" cy="310896"/>
          </a:xfrm>
          <a:prstGeom prst="roundRect">
            <a:avLst>
              <a:gd name="adj" fmla="val 14706"/>
            </a:avLst>
          </a:prstGeom>
          <a:solidFill>
            <a:srgbClr val="F7E8E8"/>
          </a:solidFill>
          <a:ln w="6350">
            <a:solidFill>
              <a:srgbClr val="D7DEE9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013448" y="4402836"/>
            <a:ext cx="4023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6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8010144" y="3657600"/>
            <a:ext cx="2971800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0160">
            <a:solidFill>
              <a:srgbClr val="D7DEE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229600" y="391363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DESK</a:t>
            </a:r>
            <a:endParaRPr lang="en-US" sz="680" dirty="0"/>
          </a:p>
        </p:txBody>
      </p:sp>
      <p:sp>
        <p:nvSpPr>
          <p:cNvPr id="52" name="Text 49"/>
          <p:cNvSpPr/>
          <p:nvPr/>
        </p:nvSpPr>
        <p:spPr>
          <a:xfrm>
            <a:off x="8229600" y="4242816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118.20</a:t>
            </a:r>
            <a:endParaRPr lang="en-US" sz="840" dirty="0"/>
          </a:p>
          <a:p>
            <a:pPr algn="l" indent="0" marL="0">
              <a:buNone/>
            </a:pPr>
            <a:r>
              <a:rPr lang="en-US" sz="840" b="1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123.70</a:t>
            </a:r>
            <a:endParaRPr lang="en-US" sz="840" dirty="0"/>
          </a:p>
          <a:p>
            <a:pPr algn="l" indent="0" marL="0">
              <a:buNone/>
            </a:pPr>
            <a:r>
              <a:rPr lang="en-US" sz="840" b="1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 +4.7%</a:t>
            </a:r>
            <a:endParaRPr lang="en-US" sz="840" dirty="0"/>
          </a:p>
          <a:p>
            <a:pPr algn="l" indent="0" marL="0">
              <a:buNone/>
            </a:pPr>
            <a:r>
              <a:rPr lang="en-US" sz="840" b="1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Hold</a:t>
            </a:r>
            <a:endParaRPr lang="en-US" sz="840" dirty="0"/>
          </a:p>
        </p:txBody>
      </p:sp>
      <p:sp>
        <p:nvSpPr>
          <p:cNvPr id="53" name="Shape 50"/>
          <p:cNvSpPr/>
          <p:nvPr/>
        </p:nvSpPr>
        <p:spPr>
          <a:xfrm>
            <a:off x="9729216" y="4672584"/>
            <a:ext cx="987552" cy="0"/>
          </a:xfrm>
          <a:prstGeom prst="line">
            <a:avLst/>
          </a:prstGeom>
          <a:noFill/>
          <a:ln w="8890">
            <a:solidFill>
              <a:srgbClr val="D7DEE9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9729216" y="4421124"/>
            <a:ext cx="987552" cy="0"/>
          </a:xfrm>
          <a:prstGeom prst="line">
            <a:avLst/>
          </a:prstGeom>
          <a:noFill/>
          <a:ln w="5715">
            <a:solidFill>
              <a:srgbClr val="D7DEE9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9729216" y="4169664"/>
            <a:ext cx="987552" cy="0"/>
          </a:xfrm>
          <a:prstGeom prst="line">
            <a:avLst/>
          </a:prstGeom>
          <a:noFill/>
          <a:ln w="5715">
            <a:solidFill>
              <a:srgbClr val="D7DEE9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9729216" y="4672584"/>
            <a:ext cx="246888" cy="-143691"/>
          </a:xfrm>
          <a:prstGeom prst="line">
            <a:avLst/>
          </a:prstGeom>
          <a:noFill/>
          <a:ln w="17780">
            <a:solidFill>
              <a:srgbClr val="2F7D54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9976104" y="4528893"/>
            <a:ext cx="246888" cy="71846"/>
          </a:xfrm>
          <a:prstGeom prst="line">
            <a:avLst/>
          </a:prstGeom>
          <a:noFill/>
          <a:ln w="17780">
            <a:solidFill>
              <a:srgbClr val="2F7D54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10222992" y="4600738"/>
            <a:ext cx="246888" cy="-287383"/>
          </a:xfrm>
          <a:prstGeom prst="line">
            <a:avLst/>
          </a:prstGeom>
          <a:noFill/>
          <a:ln w="17780">
            <a:solidFill>
              <a:srgbClr val="2F7D54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10469880" y="4313355"/>
            <a:ext cx="246888" cy="-143691"/>
          </a:xfrm>
          <a:prstGeom prst="line">
            <a:avLst/>
          </a:prstGeom>
          <a:noFill/>
          <a:ln w="17780">
            <a:solidFill>
              <a:srgbClr val="2F7D54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9697212" y="4640580"/>
            <a:ext cx="64008" cy="64008"/>
          </a:xfrm>
          <a:prstGeom prst="ellipse">
            <a:avLst/>
          </a:prstGeom>
          <a:solidFill>
            <a:srgbClr val="2F7D54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10190988" y="4568734"/>
            <a:ext cx="64008" cy="64008"/>
          </a:xfrm>
          <a:prstGeom prst="ellipse">
            <a:avLst/>
          </a:prstGeom>
          <a:solidFill>
            <a:srgbClr val="2F7D54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10684764" y="4137660"/>
            <a:ext cx="64008" cy="64008"/>
          </a:xfrm>
          <a:prstGeom prst="ellipse">
            <a:avLst/>
          </a:prstGeom>
          <a:solidFill>
            <a:srgbClr val="2F7D54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475488" y="6446520"/>
            <a:ext cx="11201400" cy="0"/>
          </a:xfrm>
          <a:prstGeom prst="line">
            <a:avLst/>
          </a:prstGeom>
          <a:noFill/>
          <a:ln w="8890">
            <a:solidFill>
              <a:srgbClr val="D7DEE9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02920" y="653796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CITADAIL</a:t>
            </a:r>
            <a:endParaRPr lang="en-US" sz="680" dirty="0"/>
          </a:p>
        </p:txBody>
      </p:sp>
      <p:sp>
        <p:nvSpPr>
          <p:cNvPr id="65" name="Text 62"/>
          <p:cNvSpPr/>
          <p:nvPr/>
        </p:nvSpPr>
        <p:spPr>
          <a:xfrm>
            <a:off x="10241280" y="651967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 Mode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azeemmahashin/Downloads/template/frontend/app/Citad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9829" y="301752"/>
            <a:ext cx="568821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548640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AUTO</a:t>
            </a:r>
            <a:endParaRPr lang="en-US" sz="730" dirty="0"/>
          </a:p>
        </p:txBody>
      </p:sp>
      <p:sp>
        <p:nvSpPr>
          <p:cNvPr id="4" name="Text 1"/>
          <p:cNvSpPr/>
          <p:nvPr/>
        </p:nvSpPr>
        <p:spPr>
          <a:xfrm>
            <a:off x="566928" y="841248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walk-forward paper investment firm.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66928" y="144475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advances through historical time, sees only what was known then, and continuously opens, manages, and exits paper positions.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658368" y="2240280"/>
            <a:ext cx="1572768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0160">
            <a:solidFill>
              <a:srgbClr val="D7DE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6384" y="2450592"/>
            <a:ext cx="13167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 Brief</a:t>
            </a:r>
            <a:endParaRPr lang="en-US" sz="760" dirty="0"/>
          </a:p>
        </p:txBody>
      </p:sp>
      <p:sp>
        <p:nvSpPr>
          <p:cNvPr id="8" name="Shape 5"/>
          <p:cNvSpPr/>
          <p:nvPr/>
        </p:nvSpPr>
        <p:spPr>
          <a:xfrm>
            <a:off x="2258568" y="2569464"/>
            <a:ext cx="320040" cy="0"/>
          </a:xfrm>
          <a:prstGeom prst="line">
            <a:avLst/>
          </a:prstGeom>
          <a:noFill/>
          <a:ln w="10160">
            <a:solidFill>
              <a:srgbClr val="8EA1BB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871216" y="2240280"/>
            <a:ext cx="1572768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0160">
            <a:solidFill>
              <a:srgbClr val="D7DE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99232" y="2450592"/>
            <a:ext cx="13167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</a:t>
            </a:r>
            <a:endParaRPr lang="en-US" sz="760" dirty="0"/>
          </a:p>
        </p:txBody>
      </p:sp>
      <p:sp>
        <p:nvSpPr>
          <p:cNvPr id="11" name="Shape 8"/>
          <p:cNvSpPr/>
          <p:nvPr/>
        </p:nvSpPr>
        <p:spPr>
          <a:xfrm>
            <a:off x="4471416" y="2569464"/>
            <a:ext cx="320040" cy="0"/>
          </a:xfrm>
          <a:prstGeom prst="line">
            <a:avLst/>
          </a:prstGeom>
          <a:noFill/>
          <a:ln w="10160">
            <a:solidFill>
              <a:srgbClr val="8EA1BB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5084064" y="2240280"/>
            <a:ext cx="1572768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0160">
            <a:solidFill>
              <a:srgbClr val="D7DE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12080" y="2450592"/>
            <a:ext cx="13167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Swarm</a:t>
            </a:r>
            <a:endParaRPr lang="en-US" sz="760" dirty="0"/>
          </a:p>
        </p:txBody>
      </p:sp>
      <p:sp>
        <p:nvSpPr>
          <p:cNvPr id="14" name="Shape 11"/>
          <p:cNvSpPr/>
          <p:nvPr/>
        </p:nvSpPr>
        <p:spPr>
          <a:xfrm>
            <a:off x="6684264" y="2569464"/>
            <a:ext cx="320040" cy="0"/>
          </a:xfrm>
          <a:prstGeom prst="line">
            <a:avLst/>
          </a:prstGeom>
          <a:noFill/>
          <a:ln w="10160">
            <a:solidFill>
              <a:srgbClr val="8EA1BB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7296912" y="2240280"/>
            <a:ext cx="1572768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0160">
            <a:solidFill>
              <a:srgbClr val="D7DEE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24928" y="2450592"/>
            <a:ext cx="13167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Synth</a:t>
            </a:r>
            <a:endParaRPr lang="en-US" sz="760" dirty="0"/>
          </a:p>
        </p:txBody>
      </p:sp>
      <p:sp>
        <p:nvSpPr>
          <p:cNvPr id="17" name="Shape 14"/>
          <p:cNvSpPr/>
          <p:nvPr/>
        </p:nvSpPr>
        <p:spPr>
          <a:xfrm>
            <a:off x="8897112" y="2569464"/>
            <a:ext cx="320040" cy="0"/>
          </a:xfrm>
          <a:prstGeom prst="line">
            <a:avLst/>
          </a:prstGeom>
          <a:noFill/>
          <a:ln w="10160">
            <a:solidFill>
              <a:srgbClr val="8EA1BB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9509760" y="2240280"/>
            <a:ext cx="1572768" cy="658368"/>
          </a:xfrm>
          <a:prstGeom prst="roundRect">
            <a:avLst>
              <a:gd name="adj" fmla="val 6944"/>
            </a:avLst>
          </a:prstGeom>
          <a:solidFill>
            <a:srgbClr val="FFF7E6"/>
          </a:solidFill>
          <a:ln w="10160">
            <a:solidFill>
              <a:srgbClr val="D7DEE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37776" y="2450592"/>
            <a:ext cx="13167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760" dirty="0"/>
          </a:p>
        </p:txBody>
      </p:sp>
      <p:sp>
        <p:nvSpPr>
          <p:cNvPr id="20" name="Shape 17"/>
          <p:cNvSpPr/>
          <p:nvPr/>
        </p:nvSpPr>
        <p:spPr>
          <a:xfrm>
            <a:off x="10296144" y="2953512"/>
            <a:ext cx="0" cy="960120"/>
          </a:xfrm>
          <a:prstGeom prst="line">
            <a:avLst/>
          </a:prstGeom>
          <a:noFill/>
          <a:ln w="10160">
            <a:solidFill>
              <a:srgbClr val="8EA1BB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9509760" y="4041648"/>
            <a:ext cx="1572768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0160">
            <a:solidFill>
              <a:srgbClr val="D7DEE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37776" y="4251960"/>
            <a:ext cx="13167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Gate</a:t>
            </a:r>
            <a:endParaRPr lang="en-US" sz="760" dirty="0"/>
          </a:p>
        </p:txBody>
      </p:sp>
      <p:sp>
        <p:nvSpPr>
          <p:cNvPr id="23" name="Shape 20"/>
          <p:cNvSpPr/>
          <p:nvPr/>
        </p:nvSpPr>
        <p:spPr>
          <a:xfrm>
            <a:off x="9473184" y="4370832"/>
            <a:ext cx="-310896" cy="0"/>
          </a:xfrm>
          <a:prstGeom prst="line">
            <a:avLst/>
          </a:prstGeom>
          <a:noFill/>
          <a:ln w="10160">
            <a:solidFill>
              <a:srgbClr val="8EA1BB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7296912" y="4041648"/>
            <a:ext cx="1572768" cy="658368"/>
          </a:xfrm>
          <a:prstGeom prst="roundRect">
            <a:avLst>
              <a:gd name="adj" fmla="val 6944"/>
            </a:avLst>
          </a:prstGeom>
          <a:solidFill>
            <a:srgbClr val="0A2259"/>
          </a:solidFill>
          <a:ln w="10160">
            <a:solidFill>
              <a:srgbClr val="0A225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424928" y="4251960"/>
            <a:ext cx="13167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</a:t>
            </a:r>
            <a:endParaRPr lang="en-US" sz="760" dirty="0"/>
          </a:p>
        </p:txBody>
      </p:sp>
      <p:sp>
        <p:nvSpPr>
          <p:cNvPr id="26" name="Shape 23"/>
          <p:cNvSpPr/>
          <p:nvPr/>
        </p:nvSpPr>
        <p:spPr>
          <a:xfrm>
            <a:off x="7260336" y="4370832"/>
            <a:ext cx="-310896" cy="0"/>
          </a:xfrm>
          <a:prstGeom prst="line">
            <a:avLst/>
          </a:prstGeom>
          <a:noFill/>
          <a:ln w="10160">
            <a:solidFill>
              <a:srgbClr val="8EA1BB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5084064" y="4041648"/>
            <a:ext cx="1572768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0160">
            <a:solidFill>
              <a:srgbClr val="D7DEE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212080" y="4251960"/>
            <a:ext cx="13167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760" dirty="0"/>
          </a:p>
        </p:txBody>
      </p:sp>
      <p:sp>
        <p:nvSpPr>
          <p:cNvPr id="29" name="Shape 26"/>
          <p:cNvSpPr/>
          <p:nvPr/>
        </p:nvSpPr>
        <p:spPr>
          <a:xfrm>
            <a:off x="5047488" y="4370832"/>
            <a:ext cx="-310896" cy="0"/>
          </a:xfrm>
          <a:prstGeom prst="line">
            <a:avLst/>
          </a:prstGeom>
          <a:noFill/>
          <a:ln w="10160">
            <a:solidFill>
              <a:srgbClr val="8EA1BB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2871216" y="4041648"/>
            <a:ext cx="1572768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0160">
            <a:solidFill>
              <a:srgbClr val="D7DEE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999232" y="4251960"/>
            <a:ext cx="13167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</a:t>
            </a:r>
            <a:endParaRPr lang="en-US" sz="760" dirty="0"/>
          </a:p>
        </p:txBody>
      </p:sp>
      <p:sp>
        <p:nvSpPr>
          <p:cNvPr id="32" name="Shape 29"/>
          <p:cNvSpPr/>
          <p:nvPr/>
        </p:nvSpPr>
        <p:spPr>
          <a:xfrm>
            <a:off x="749808" y="5486400"/>
            <a:ext cx="3657600" cy="603504"/>
          </a:xfrm>
          <a:prstGeom prst="roundRect">
            <a:avLst>
              <a:gd name="adj" fmla="val 7576"/>
            </a:avLst>
          </a:prstGeom>
          <a:solidFill>
            <a:srgbClr val="EEF5F1"/>
          </a:solidFill>
          <a:ln w="10160">
            <a:solidFill>
              <a:srgbClr val="C9E0D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87552" y="5696712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F7D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Anti-cheat rule: knownAt &lt;= simulationTime</a:t>
            </a:r>
            <a:endParaRPr lang="en-US" sz="840" dirty="0"/>
          </a:p>
        </p:txBody>
      </p:sp>
      <p:sp>
        <p:nvSpPr>
          <p:cNvPr id="34" name="Shape 31"/>
          <p:cNvSpPr/>
          <p:nvPr/>
        </p:nvSpPr>
        <p:spPr>
          <a:xfrm>
            <a:off x="4617720" y="5486400"/>
            <a:ext cx="2834640" cy="603504"/>
          </a:xfrm>
          <a:prstGeom prst="roundRect">
            <a:avLst>
              <a:gd name="adj" fmla="val 7576"/>
            </a:avLst>
          </a:prstGeom>
          <a:solidFill>
            <a:srgbClr val="F2F5FA"/>
          </a:solidFill>
          <a:ln w="10160">
            <a:solidFill>
              <a:srgbClr val="D7DEE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00600" y="5696712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A2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paper book, not one replayed trade</a:t>
            </a:r>
            <a:endParaRPr lang="en-US" sz="840" dirty="0"/>
          </a:p>
        </p:txBody>
      </p:sp>
      <p:sp>
        <p:nvSpPr>
          <p:cNvPr id="36" name="Shape 33"/>
          <p:cNvSpPr/>
          <p:nvPr/>
        </p:nvSpPr>
        <p:spPr>
          <a:xfrm>
            <a:off x="7662672" y="5486400"/>
            <a:ext cx="2907792" cy="603504"/>
          </a:xfrm>
          <a:prstGeom prst="roundRect">
            <a:avLst>
              <a:gd name="adj" fmla="val 7576"/>
            </a:avLst>
          </a:prstGeom>
          <a:solidFill>
            <a:srgbClr val="F8F1E2"/>
          </a:solidFill>
          <a:ln w="10160">
            <a:solidFill>
              <a:srgbClr val="E7D5A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882128" y="5696712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A77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material action is journaled</a:t>
            </a:r>
            <a:endParaRPr lang="en-US" sz="840" dirty="0"/>
          </a:p>
        </p:txBody>
      </p:sp>
      <p:sp>
        <p:nvSpPr>
          <p:cNvPr id="38" name="Shape 35"/>
          <p:cNvSpPr/>
          <p:nvPr/>
        </p:nvSpPr>
        <p:spPr>
          <a:xfrm>
            <a:off x="475488" y="6446520"/>
            <a:ext cx="11201400" cy="0"/>
          </a:xfrm>
          <a:prstGeom prst="line">
            <a:avLst/>
          </a:prstGeom>
          <a:noFill/>
          <a:ln w="8890">
            <a:solidFill>
              <a:srgbClr val="D7DEE9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02920" y="653796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CITADAIL</a:t>
            </a:r>
            <a:endParaRPr lang="en-US" sz="680" dirty="0"/>
          </a:p>
        </p:txBody>
      </p:sp>
      <p:sp>
        <p:nvSpPr>
          <p:cNvPr id="40" name="Text 37"/>
          <p:cNvSpPr/>
          <p:nvPr/>
        </p:nvSpPr>
        <p:spPr>
          <a:xfrm>
            <a:off x="10241280" y="651967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Auto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azeemmahashin/Downloads/template/frontend/app/Citad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9829" y="301752"/>
            <a:ext cx="568821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548640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 OUTPUT</a:t>
            </a:r>
            <a:endParaRPr lang="en-US" sz="730" dirty="0"/>
          </a:p>
        </p:txBody>
      </p:sp>
      <p:sp>
        <p:nvSpPr>
          <p:cNvPr id="4" name="Text 1"/>
          <p:cNvSpPr/>
          <p:nvPr/>
        </p:nvSpPr>
        <p:spPr>
          <a:xfrm>
            <a:off x="566928" y="841248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run is measurable.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66928" y="144475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Auto produces a paper book, open positions, an equity curve, and a decision journal.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658368" y="1828800"/>
            <a:ext cx="6492240" cy="3255264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10160">
            <a:solidFill>
              <a:srgbClr val="D7DE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2688" y="208483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BOOK EQUITY</a:t>
            </a:r>
            <a:endParaRPr lang="en-US" sz="680" dirty="0"/>
          </a:p>
        </p:txBody>
      </p:sp>
      <p:sp>
        <p:nvSpPr>
          <p:cNvPr id="8" name="Shape 5"/>
          <p:cNvSpPr/>
          <p:nvPr/>
        </p:nvSpPr>
        <p:spPr>
          <a:xfrm>
            <a:off x="969264" y="4197096"/>
            <a:ext cx="5285232" cy="0"/>
          </a:xfrm>
          <a:prstGeom prst="line">
            <a:avLst/>
          </a:prstGeom>
          <a:noFill/>
          <a:ln w="8890">
            <a:solidFill>
              <a:srgbClr val="D7DEE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69264" y="3488436"/>
            <a:ext cx="5285232" cy="0"/>
          </a:xfrm>
          <a:prstGeom prst="line">
            <a:avLst/>
          </a:prstGeom>
          <a:noFill/>
          <a:ln w="5715">
            <a:solidFill>
              <a:srgbClr val="D7DEE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69264" y="2779776"/>
            <a:ext cx="5285232" cy="0"/>
          </a:xfrm>
          <a:prstGeom prst="line">
            <a:avLst/>
          </a:prstGeom>
          <a:noFill/>
          <a:ln w="5715">
            <a:solidFill>
              <a:srgbClr val="D7DEE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4197096"/>
            <a:ext cx="660654" cy="-152400"/>
          </a:xfrm>
          <a:prstGeom prst="line">
            <a:avLst/>
          </a:prstGeom>
          <a:noFill/>
          <a:ln w="33020">
            <a:solidFill>
              <a:srgbClr val="2F7D5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629918" y="4044696"/>
            <a:ext cx="660654" cy="-209550"/>
          </a:xfrm>
          <a:prstGeom prst="line">
            <a:avLst/>
          </a:prstGeom>
          <a:noFill/>
          <a:ln w="33020">
            <a:solidFill>
              <a:srgbClr val="2F7D5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290572" y="3835146"/>
            <a:ext cx="660654" cy="152400"/>
          </a:xfrm>
          <a:prstGeom prst="line">
            <a:avLst/>
          </a:prstGeom>
          <a:noFill/>
          <a:ln w="33020">
            <a:solidFill>
              <a:srgbClr val="2F7D5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51226" y="3987546"/>
            <a:ext cx="660654" cy="-400050"/>
          </a:xfrm>
          <a:prstGeom prst="line">
            <a:avLst/>
          </a:prstGeom>
          <a:noFill/>
          <a:ln w="33020">
            <a:solidFill>
              <a:srgbClr val="2F7D5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11880" y="3587496"/>
            <a:ext cx="660654" cy="-361950"/>
          </a:xfrm>
          <a:prstGeom prst="line">
            <a:avLst/>
          </a:prstGeom>
          <a:noFill/>
          <a:ln w="33020">
            <a:solidFill>
              <a:srgbClr val="2F7D5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72534" y="3225546"/>
            <a:ext cx="660654" cy="133350"/>
          </a:xfrm>
          <a:prstGeom prst="line">
            <a:avLst/>
          </a:prstGeom>
          <a:noFill/>
          <a:ln w="33020">
            <a:solidFill>
              <a:srgbClr val="2F7D5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933188" y="3358896"/>
            <a:ext cx="660654" cy="-438150"/>
          </a:xfrm>
          <a:prstGeom prst="line">
            <a:avLst/>
          </a:prstGeom>
          <a:noFill/>
          <a:ln w="33020">
            <a:solidFill>
              <a:srgbClr val="2F7D5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593842" y="2920746"/>
            <a:ext cx="660654" cy="-140970"/>
          </a:xfrm>
          <a:prstGeom prst="line">
            <a:avLst/>
          </a:prstGeom>
          <a:noFill/>
          <a:ln w="33020">
            <a:solidFill>
              <a:srgbClr val="2F7D5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37260" y="4165092"/>
            <a:ext cx="64008" cy="64008"/>
          </a:xfrm>
          <a:prstGeom prst="ellipse">
            <a:avLst/>
          </a:prstGeom>
          <a:solidFill>
            <a:srgbClr val="2F7D54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258568" y="3803142"/>
            <a:ext cx="64008" cy="64008"/>
          </a:xfrm>
          <a:prstGeom prst="ellipse">
            <a:avLst/>
          </a:prstGeom>
          <a:solidFill>
            <a:srgbClr val="2F7D54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579876" y="3555492"/>
            <a:ext cx="64008" cy="64008"/>
          </a:xfrm>
          <a:prstGeom prst="ellipse">
            <a:avLst/>
          </a:prstGeom>
          <a:solidFill>
            <a:srgbClr val="2F7D54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901184" y="3326892"/>
            <a:ext cx="64008" cy="64008"/>
          </a:xfrm>
          <a:prstGeom prst="ellipse">
            <a:avLst/>
          </a:prstGeom>
          <a:solidFill>
            <a:srgbClr val="2F7D54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22492" y="2747772"/>
            <a:ext cx="64008" cy="64008"/>
          </a:xfrm>
          <a:prstGeom prst="ellipse">
            <a:avLst/>
          </a:prstGeom>
          <a:solidFill>
            <a:srgbClr val="2F7D54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60120" y="437083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$1.00M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5669280" y="254203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F7D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$1.74M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7516368" y="1828800"/>
            <a:ext cx="1188720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0160">
            <a:solidFill>
              <a:srgbClr val="D7DEE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62672" y="1984248"/>
            <a:ext cx="896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RETURN</a:t>
            </a:r>
            <a:endParaRPr lang="en-US" sz="640" dirty="0"/>
          </a:p>
        </p:txBody>
      </p:sp>
      <p:sp>
        <p:nvSpPr>
          <p:cNvPr id="28" name="Text 25"/>
          <p:cNvSpPr/>
          <p:nvPr/>
        </p:nvSpPr>
        <p:spPr>
          <a:xfrm>
            <a:off x="7662672" y="226771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F7D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+74.4%</a:t>
            </a:r>
            <a:endParaRPr lang="en-US" sz="1550" dirty="0"/>
          </a:p>
        </p:txBody>
      </p:sp>
      <p:sp>
        <p:nvSpPr>
          <p:cNvPr id="29" name="Shape 26"/>
          <p:cNvSpPr/>
          <p:nvPr/>
        </p:nvSpPr>
        <p:spPr>
          <a:xfrm>
            <a:off x="8924544" y="1828800"/>
            <a:ext cx="1188720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0160">
            <a:solidFill>
              <a:srgbClr val="D7DEE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070848" y="1984248"/>
            <a:ext cx="896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DD</a:t>
            </a:r>
            <a:endParaRPr lang="en-US" sz="640" dirty="0"/>
          </a:p>
        </p:txBody>
      </p:sp>
      <p:sp>
        <p:nvSpPr>
          <p:cNvPr id="31" name="Text 28"/>
          <p:cNvSpPr/>
          <p:nvPr/>
        </p:nvSpPr>
        <p:spPr>
          <a:xfrm>
            <a:off x="9070848" y="226771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A6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-16.1%</a:t>
            </a:r>
            <a:endParaRPr lang="en-US" sz="1550" dirty="0"/>
          </a:p>
        </p:txBody>
      </p:sp>
      <p:sp>
        <p:nvSpPr>
          <p:cNvPr id="32" name="Shape 29"/>
          <p:cNvSpPr/>
          <p:nvPr/>
        </p:nvSpPr>
        <p:spPr>
          <a:xfrm>
            <a:off x="10332720" y="1828800"/>
            <a:ext cx="1188720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0160">
            <a:solidFill>
              <a:srgbClr val="D7DEE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479024" y="1984248"/>
            <a:ext cx="896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RATE</a:t>
            </a:r>
            <a:endParaRPr lang="en-US" sz="640" dirty="0"/>
          </a:p>
        </p:txBody>
      </p:sp>
      <p:sp>
        <p:nvSpPr>
          <p:cNvPr id="34" name="Text 31"/>
          <p:cNvSpPr/>
          <p:nvPr/>
        </p:nvSpPr>
        <p:spPr>
          <a:xfrm>
            <a:off x="10479024" y="226771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54.5%</a:t>
            </a:r>
            <a:endParaRPr lang="en-US" sz="1550" dirty="0"/>
          </a:p>
        </p:txBody>
      </p:sp>
      <p:sp>
        <p:nvSpPr>
          <p:cNvPr id="35" name="Shape 32"/>
          <p:cNvSpPr/>
          <p:nvPr/>
        </p:nvSpPr>
        <p:spPr>
          <a:xfrm>
            <a:off x="7516368" y="2871216"/>
            <a:ext cx="1188720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0160">
            <a:solidFill>
              <a:srgbClr val="D7DEE9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662672" y="3026664"/>
            <a:ext cx="896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W/L</a:t>
            </a:r>
            <a:endParaRPr lang="en-US" sz="640" dirty="0"/>
          </a:p>
        </p:txBody>
      </p:sp>
      <p:sp>
        <p:nvSpPr>
          <p:cNvPr id="37" name="Text 34"/>
          <p:cNvSpPr/>
          <p:nvPr/>
        </p:nvSpPr>
        <p:spPr>
          <a:xfrm>
            <a:off x="7662672" y="331012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4.3x</a:t>
            </a:r>
            <a:endParaRPr lang="en-US" sz="1550" dirty="0"/>
          </a:p>
        </p:txBody>
      </p:sp>
      <p:sp>
        <p:nvSpPr>
          <p:cNvPr id="38" name="Shape 35"/>
          <p:cNvSpPr/>
          <p:nvPr/>
        </p:nvSpPr>
        <p:spPr>
          <a:xfrm>
            <a:off x="8924544" y="2871216"/>
            <a:ext cx="1188720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0160">
            <a:solidFill>
              <a:srgbClr val="D7DEE9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070848" y="3026664"/>
            <a:ext cx="896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BREAKS</a:t>
            </a:r>
            <a:endParaRPr lang="en-US" sz="640" dirty="0"/>
          </a:p>
        </p:txBody>
      </p:sp>
      <p:sp>
        <p:nvSpPr>
          <p:cNvPr id="40" name="Text 37"/>
          <p:cNvSpPr/>
          <p:nvPr/>
        </p:nvSpPr>
        <p:spPr>
          <a:xfrm>
            <a:off x="9070848" y="331012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F7D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4</a:t>
            </a:r>
            <a:endParaRPr lang="en-US" sz="1550" dirty="0"/>
          </a:p>
        </p:txBody>
      </p:sp>
      <p:sp>
        <p:nvSpPr>
          <p:cNvPr id="41" name="Shape 38"/>
          <p:cNvSpPr/>
          <p:nvPr/>
        </p:nvSpPr>
        <p:spPr>
          <a:xfrm>
            <a:off x="10332720" y="2871216"/>
            <a:ext cx="1188720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0160">
            <a:solidFill>
              <a:srgbClr val="D7DEE9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479024" y="3026664"/>
            <a:ext cx="896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BREACHES</a:t>
            </a:r>
            <a:endParaRPr lang="en-US" sz="640" dirty="0"/>
          </a:p>
        </p:txBody>
      </p:sp>
      <p:sp>
        <p:nvSpPr>
          <p:cNvPr id="43" name="Text 40"/>
          <p:cNvSpPr/>
          <p:nvPr/>
        </p:nvSpPr>
        <p:spPr>
          <a:xfrm>
            <a:off x="10479024" y="331012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F7D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550" dirty="0"/>
          </a:p>
        </p:txBody>
      </p:sp>
      <p:sp>
        <p:nvSpPr>
          <p:cNvPr id="44" name="Shape 41"/>
          <p:cNvSpPr/>
          <p:nvPr/>
        </p:nvSpPr>
        <p:spPr>
          <a:xfrm>
            <a:off x="7516368" y="4078224"/>
            <a:ext cx="4005072" cy="1005840"/>
          </a:xfrm>
          <a:prstGeom prst="roundRect">
            <a:avLst>
              <a:gd name="adj" fmla="val 4545"/>
            </a:avLst>
          </a:prstGeom>
          <a:solidFill>
            <a:srgbClr val="0A2259"/>
          </a:solidFill>
          <a:ln w="10160">
            <a:solidFill>
              <a:srgbClr val="102B66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754112" y="4315968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B9C8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ATTRIBUTION</a:t>
            </a:r>
            <a:endParaRPr lang="en-US" sz="680" dirty="0"/>
          </a:p>
        </p:txBody>
      </p:sp>
      <p:sp>
        <p:nvSpPr>
          <p:cNvPr id="46" name="Shape 43"/>
          <p:cNvSpPr/>
          <p:nvPr/>
        </p:nvSpPr>
        <p:spPr>
          <a:xfrm>
            <a:off x="7754112" y="4617720"/>
            <a:ext cx="786384" cy="256032"/>
          </a:xfrm>
          <a:prstGeom prst="roundRect">
            <a:avLst>
              <a:gd name="adj" fmla="val 17857"/>
            </a:avLst>
          </a:prstGeom>
          <a:solidFill>
            <a:srgbClr val="E6EEF9"/>
          </a:solidFill>
          <a:ln w="6350">
            <a:solidFill>
              <a:srgbClr val="D7DEE9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863840" y="4704588"/>
            <a:ext cx="5669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A2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MSFT  +274.7%</a:t>
            </a:r>
            <a:endParaRPr lang="en-US" sz="560" dirty="0"/>
          </a:p>
        </p:txBody>
      </p:sp>
      <p:sp>
        <p:nvSpPr>
          <p:cNvPr id="48" name="Shape 45"/>
          <p:cNvSpPr/>
          <p:nvPr/>
        </p:nvSpPr>
        <p:spPr>
          <a:xfrm>
            <a:off x="8650224" y="4617720"/>
            <a:ext cx="786384" cy="256032"/>
          </a:xfrm>
          <a:prstGeom prst="roundRect">
            <a:avLst>
              <a:gd name="adj" fmla="val 17857"/>
            </a:avLst>
          </a:prstGeom>
          <a:solidFill>
            <a:srgbClr val="E6EEF9"/>
          </a:solidFill>
          <a:ln w="6350">
            <a:solidFill>
              <a:srgbClr val="D7DEE9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759952" y="4704588"/>
            <a:ext cx="5669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A2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AMD  +218.7%</a:t>
            </a:r>
            <a:endParaRPr lang="en-US" sz="560" dirty="0"/>
          </a:p>
        </p:txBody>
      </p:sp>
      <p:sp>
        <p:nvSpPr>
          <p:cNvPr id="50" name="Shape 47"/>
          <p:cNvSpPr/>
          <p:nvPr/>
        </p:nvSpPr>
        <p:spPr>
          <a:xfrm>
            <a:off x="9546336" y="4617720"/>
            <a:ext cx="786384" cy="256032"/>
          </a:xfrm>
          <a:prstGeom prst="roundRect">
            <a:avLst>
              <a:gd name="adj" fmla="val 17857"/>
            </a:avLst>
          </a:prstGeom>
          <a:solidFill>
            <a:srgbClr val="E6EEF9"/>
          </a:solidFill>
          <a:ln w="6350">
            <a:solidFill>
              <a:srgbClr val="D7DEE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656064" y="4704588"/>
            <a:ext cx="5669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A2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 +180.5%</a:t>
            </a:r>
            <a:endParaRPr lang="en-US" sz="560" dirty="0"/>
          </a:p>
        </p:txBody>
      </p:sp>
      <p:sp>
        <p:nvSpPr>
          <p:cNvPr id="52" name="Shape 49"/>
          <p:cNvSpPr/>
          <p:nvPr/>
        </p:nvSpPr>
        <p:spPr>
          <a:xfrm>
            <a:off x="10442448" y="4617720"/>
            <a:ext cx="786384" cy="256032"/>
          </a:xfrm>
          <a:prstGeom prst="roundRect">
            <a:avLst>
              <a:gd name="adj" fmla="val 17857"/>
            </a:avLst>
          </a:prstGeom>
          <a:solidFill>
            <a:srgbClr val="E6EEF9"/>
          </a:solidFill>
          <a:ln w="6350">
            <a:solidFill>
              <a:srgbClr val="D7DEE9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0552176" y="4704588"/>
            <a:ext cx="5669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A2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NVDA  +166.9%</a:t>
            </a:r>
            <a:endParaRPr lang="en-US" sz="560" dirty="0"/>
          </a:p>
        </p:txBody>
      </p:sp>
      <p:sp>
        <p:nvSpPr>
          <p:cNvPr id="54" name="Shape 51"/>
          <p:cNvSpPr/>
          <p:nvPr/>
        </p:nvSpPr>
        <p:spPr>
          <a:xfrm>
            <a:off x="475488" y="6446520"/>
            <a:ext cx="11201400" cy="0"/>
          </a:xfrm>
          <a:prstGeom prst="line">
            <a:avLst/>
          </a:prstGeom>
          <a:noFill/>
          <a:ln w="8890">
            <a:solidFill>
              <a:srgbClr val="D7DEE9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02920" y="653796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CITADAIL</a:t>
            </a:r>
            <a:endParaRPr lang="en-US" sz="680" dirty="0"/>
          </a:p>
        </p:txBody>
      </p:sp>
      <p:sp>
        <p:nvSpPr>
          <p:cNvPr id="56" name="Text 53"/>
          <p:cNvSpPr/>
          <p:nvPr/>
        </p:nvSpPr>
        <p:spPr>
          <a:xfrm>
            <a:off x="10241280" y="651967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Scorecard</a:t>
            </a:r>
            <a:endParaRPr lang="en-US" sz="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azeemmahashin/Downloads/template/frontend/app/Citad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9829" y="301752"/>
            <a:ext cx="568821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548640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</a:t>
            </a:r>
            <a:endParaRPr lang="en-US" sz="730" dirty="0"/>
          </a:p>
        </p:txBody>
      </p:sp>
      <p:sp>
        <p:nvSpPr>
          <p:cNvPr id="4" name="Text 1"/>
          <p:cNvSpPr/>
          <p:nvPr/>
        </p:nvSpPr>
        <p:spPr>
          <a:xfrm>
            <a:off x="566928" y="841248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product shell with real execution paths.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66928" y="144475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judges should see the stack: Next.js workbench, server APIs, Full Auto runtime, Spectrum/iMessage, and Dedalus/OpenClaw proof.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694944" y="1737360"/>
            <a:ext cx="10652760" cy="457200"/>
          </a:xfrm>
          <a:prstGeom prst="roundRect">
            <a:avLst>
              <a:gd name="adj" fmla="val 10000"/>
            </a:avLst>
          </a:prstGeom>
          <a:solidFill>
            <a:srgbClr val="F0F4FA"/>
          </a:solidFill>
          <a:ln w="10160">
            <a:solidFill>
              <a:srgbClr val="D7DE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189280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0A2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</a:t>
            </a:r>
            <a:endParaRPr lang="en-US" sz="640" dirty="0"/>
          </a:p>
        </p:txBody>
      </p:sp>
      <p:sp>
        <p:nvSpPr>
          <p:cNvPr id="8" name="Text 5"/>
          <p:cNvSpPr/>
          <p:nvPr/>
        </p:nvSpPr>
        <p:spPr>
          <a:xfrm>
            <a:off x="2834640" y="1874520"/>
            <a:ext cx="8046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Landing, tabbed workbench, Full Auto control room, sidebar chat</a:t>
            </a:r>
            <a:endParaRPr lang="en-US" sz="830" dirty="0"/>
          </a:p>
        </p:txBody>
      </p:sp>
      <p:sp>
        <p:nvSpPr>
          <p:cNvPr id="9" name="Shape 6"/>
          <p:cNvSpPr/>
          <p:nvPr/>
        </p:nvSpPr>
        <p:spPr>
          <a:xfrm>
            <a:off x="694944" y="2395728"/>
            <a:ext cx="10652760" cy="457200"/>
          </a:xfrm>
          <a:prstGeom prst="roundRect">
            <a:avLst>
              <a:gd name="adj" fmla="val 10000"/>
            </a:avLst>
          </a:prstGeom>
          <a:solidFill>
            <a:srgbClr val="FDFEFF"/>
          </a:solidFill>
          <a:ln w="10160">
            <a:solidFill>
              <a:srgbClr val="D7DE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2551176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0A2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APIS</a:t>
            </a:r>
            <a:endParaRPr lang="en-US" sz="640" dirty="0"/>
          </a:p>
        </p:txBody>
      </p:sp>
      <p:sp>
        <p:nvSpPr>
          <p:cNvPr id="11" name="Text 8"/>
          <p:cNvSpPr/>
          <p:nvPr/>
        </p:nvSpPr>
        <p:spPr>
          <a:xfrm>
            <a:off x="2834640" y="2532888"/>
            <a:ext cx="8046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Generation, Office export, Full Auto step, runtime status, market brief</a:t>
            </a:r>
            <a:endParaRPr lang="en-US" sz="830" dirty="0"/>
          </a:p>
        </p:txBody>
      </p:sp>
      <p:sp>
        <p:nvSpPr>
          <p:cNvPr id="12" name="Shape 9"/>
          <p:cNvSpPr/>
          <p:nvPr/>
        </p:nvSpPr>
        <p:spPr>
          <a:xfrm>
            <a:off x="694944" y="3054096"/>
            <a:ext cx="10652760" cy="457200"/>
          </a:xfrm>
          <a:prstGeom prst="roundRect">
            <a:avLst>
              <a:gd name="adj" fmla="val 10000"/>
            </a:avLst>
          </a:prstGeom>
          <a:solidFill>
            <a:srgbClr val="F0F4FA"/>
          </a:solidFill>
          <a:ln w="10160">
            <a:solidFill>
              <a:srgbClr val="D7DE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3209544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0A2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STATE</a:t>
            </a:r>
            <a:endParaRPr lang="en-US" sz="640" dirty="0"/>
          </a:p>
        </p:txBody>
      </p:sp>
      <p:sp>
        <p:nvSpPr>
          <p:cNvPr id="14" name="Text 11"/>
          <p:cNvSpPr/>
          <p:nvPr/>
        </p:nvSpPr>
        <p:spPr>
          <a:xfrm>
            <a:off x="2834640" y="3191256"/>
            <a:ext cx="8046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Session, EquityProject, ThesisRecord, PaperPosition, Journal</a:t>
            </a:r>
            <a:endParaRPr lang="en-US" sz="830" dirty="0"/>
          </a:p>
        </p:txBody>
      </p:sp>
      <p:sp>
        <p:nvSpPr>
          <p:cNvPr id="15" name="Shape 12"/>
          <p:cNvSpPr/>
          <p:nvPr/>
        </p:nvSpPr>
        <p:spPr>
          <a:xfrm>
            <a:off x="694944" y="3712464"/>
            <a:ext cx="10652760" cy="457200"/>
          </a:xfrm>
          <a:prstGeom prst="roundRect">
            <a:avLst>
              <a:gd name="adj" fmla="val 10000"/>
            </a:avLst>
          </a:prstGeom>
          <a:solidFill>
            <a:srgbClr val="FDFEFF"/>
          </a:solidFill>
          <a:ln w="10160">
            <a:solidFill>
              <a:srgbClr val="D7DEE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386791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0A2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RUNTIME</a:t>
            </a:r>
            <a:endParaRPr lang="en-US" sz="640" dirty="0"/>
          </a:p>
        </p:txBody>
      </p:sp>
      <p:sp>
        <p:nvSpPr>
          <p:cNvPr id="17" name="Text 14"/>
          <p:cNvSpPr/>
          <p:nvPr/>
        </p:nvSpPr>
        <p:spPr>
          <a:xfrm>
            <a:off x="2834640" y="3849624"/>
            <a:ext cx="8046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 Brief -&gt; Analyst Swarm -&gt; PM -&gt; Validation -&gt; Risk -&gt; Desk -&gt; Monitor</a:t>
            </a:r>
            <a:endParaRPr lang="en-US" sz="830" dirty="0"/>
          </a:p>
        </p:txBody>
      </p:sp>
      <p:sp>
        <p:nvSpPr>
          <p:cNvPr id="18" name="Shape 15"/>
          <p:cNvSpPr/>
          <p:nvPr/>
        </p:nvSpPr>
        <p:spPr>
          <a:xfrm>
            <a:off x="694944" y="4370832"/>
            <a:ext cx="10652760" cy="457200"/>
          </a:xfrm>
          <a:prstGeom prst="roundRect">
            <a:avLst>
              <a:gd name="adj" fmla="val 10000"/>
            </a:avLst>
          </a:prstGeom>
          <a:solidFill>
            <a:srgbClr val="F0F4FA"/>
          </a:solidFill>
          <a:ln w="10160">
            <a:solidFill>
              <a:srgbClr val="D7DEE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" y="4526280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0A2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 LAYER</a:t>
            </a:r>
            <a:endParaRPr lang="en-US" sz="640" dirty="0"/>
          </a:p>
        </p:txBody>
      </p:sp>
      <p:sp>
        <p:nvSpPr>
          <p:cNvPr id="20" name="Text 17"/>
          <p:cNvSpPr/>
          <p:nvPr/>
        </p:nvSpPr>
        <p:spPr>
          <a:xfrm>
            <a:off x="2834640" y="4507992"/>
            <a:ext cx="8046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Spectrum TypeScript agent for iMessage and terminal</a:t>
            </a:r>
            <a:endParaRPr lang="en-US" sz="830" dirty="0"/>
          </a:p>
        </p:txBody>
      </p:sp>
      <p:sp>
        <p:nvSpPr>
          <p:cNvPr id="21" name="Shape 18"/>
          <p:cNvSpPr/>
          <p:nvPr/>
        </p:nvSpPr>
        <p:spPr>
          <a:xfrm>
            <a:off x="694944" y="5029200"/>
            <a:ext cx="10652760" cy="457200"/>
          </a:xfrm>
          <a:prstGeom prst="roundRect">
            <a:avLst>
              <a:gd name="adj" fmla="val 10000"/>
            </a:avLst>
          </a:prstGeom>
          <a:solidFill>
            <a:srgbClr val="FDFEFF"/>
          </a:solidFill>
          <a:ln w="10160">
            <a:solidFill>
              <a:srgbClr val="D7DEE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4400" y="518464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0A2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PROOF</a:t>
            </a:r>
            <a:endParaRPr lang="en-US" sz="640" dirty="0"/>
          </a:p>
        </p:txBody>
      </p:sp>
      <p:sp>
        <p:nvSpPr>
          <p:cNvPr id="23" name="Text 20"/>
          <p:cNvSpPr/>
          <p:nvPr/>
        </p:nvSpPr>
        <p:spPr>
          <a:xfrm>
            <a:off x="2834640" y="5166360"/>
            <a:ext cx="8046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Dedalus runtime adapter with OpenClaw step proof and local fallback</a:t>
            </a:r>
            <a:endParaRPr lang="en-US" sz="830" dirty="0"/>
          </a:p>
        </p:txBody>
      </p:sp>
      <p:sp>
        <p:nvSpPr>
          <p:cNvPr id="24" name="Shape 21"/>
          <p:cNvSpPr/>
          <p:nvPr/>
        </p:nvSpPr>
        <p:spPr>
          <a:xfrm>
            <a:off x="822960" y="5742432"/>
            <a:ext cx="786384" cy="310896"/>
          </a:xfrm>
          <a:prstGeom prst="roundRect">
            <a:avLst>
              <a:gd name="adj" fmla="val 14706"/>
            </a:avLst>
          </a:prstGeom>
          <a:solidFill>
            <a:srgbClr val="EAF0F8"/>
          </a:solidFill>
          <a:ln w="6350">
            <a:solidFill>
              <a:srgbClr val="D7DEE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32688" y="5829300"/>
            <a:ext cx="5669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1737360" y="5742432"/>
            <a:ext cx="749808" cy="310896"/>
          </a:xfrm>
          <a:prstGeom prst="roundRect">
            <a:avLst>
              <a:gd name="adj" fmla="val 14706"/>
            </a:avLst>
          </a:prstGeom>
          <a:solidFill>
            <a:srgbClr val="EAF0F8"/>
          </a:solidFill>
          <a:ln w="6350">
            <a:solidFill>
              <a:srgbClr val="D7DEE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847088" y="5829300"/>
            <a:ext cx="5303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2615184" y="5742432"/>
            <a:ext cx="1078992" cy="310896"/>
          </a:xfrm>
          <a:prstGeom prst="roundRect">
            <a:avLst>
              <a:gd name="adj" fmla="val 14706"/>
            </a:avLst>
          </a:prstGeom>
          <a:solidFill>
            <a:srgbClr val="EAF0F8"/>
          </a:solidFill>
          <a:ln w="6350">
            <a:solidFill>
              <a:srgbClr val="D7DEE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724912" y="5829300"/>
            <a:ext cx="8595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files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3822192" y="5742432"/>
            <a:ext cx="896112" cy="310896"/>
          </a:xfrm>
          <a:prstGeom prst="roundRect">
            <a:avLst>
              <a:gd name="adj" fmla="val 14706"/>
            </a:avLst>
          </a:prstGeom>
          <a:solidFill>
            <a:srgbClr val="EAF0F8"/>
          </a:solidFill>
          <a:ln w="6350">
            <a:solidFill>
              <a:srgbClr val="D7DEE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931920" y="5829300"/>
            <a:ext cx="6766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Spectrum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4846320" y="5742432"/>
            <a:ext cx="822960" cy="310896"/>
          </a:xfrm>
          <a:prstGeom prst="roundRect">
            <a:avLst>
              <a:gd name="adj" fmla="val 14706"/>
            </a:avLst>
          </a:prstGeom>
          <a:solidFill>
            <a:srgbClr val="EAF0F8"/>
          </a:solidFill>
          <a:ln w="6350">
            <a:solidFill>
              <a:srgbClr val="D7DEE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956048" y="5829300"/>
            <a:ext cx="603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Dedalus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5797296" y="5742432"/>
            <a:ext cx="932688" cy="310896"/>
          </a:xfrm>
          <a:prstGeom prst="roundRect">
            <a:avLst>
              <a:gd name="adj" fmla="val 14706"/>
            </a:avLst>
          </a:prstGeom>
          <a:solidFill>
            <a:srgbClr val="EAF0F8"/>
          </a:solidFill>
          <a:ln w="6350">
            <a:solidFill>
              <a:srgbClr val="D7DEE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907024" y="5829300"/>
            <a:ext cx="7132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6858000" y="5742432"/>
            <a:ext cx="1298448" cy="310896"/>
          </a:xfrm>
          <a:prstGeom prst="roundRect">
            <a:avLst>
              <a:gd name="adj" fmla="val 14706"/>
            </a:avLst>
          </a:prstGeom>
          <a:solidFill>
            <a:srgbClr val="EAF0F8"/>
          </a:solidFill>
          <a:ln w="6350">
            <a:solidFill>
              <a:srgbClr val="D7DEE9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967728" y="5829300"/>
            <a:ext cx="10789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replay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475488" y="6446520"/>
            <a:ext cx="11201400" cy="0"/>
          </a:xfrm>
          <a:prstGeom prst="line">
            <a:avLst/>
          </a:prstGeom>
          <a:noFill/>
          <a:ln w="8890">
            <a:solidFill>
              <a:srgbClr val="D7DEE9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02920" y="653796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CITADAIL</a:t>
            </a:r>
            <a:endParaRPr lang="en-US" sz="680" dirty="0"/>
          </a:p>
        </p:txBody>
      </p:sp>
      <p:sp>
        <p:nvSpPr>
          <p:cNvPr id="40" name="Text 37"/>
          <p:cNvSpPr/>
          <p:nvPr/>
        </p:nvSpPr>
        <p:spPr>
          <a:xfrm>
            <a:off x="10241280" y="651967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azeemmahashin/Downloads/template/frontend/app/Citad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9829" y="301752"/>
            <a:ext cx="568821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548640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 PM LAYER</a:t>
            </a:r>
            <a:endParaRPr lang="en-US" sz="730" dirty="0"/>
          </a:p>
        </p:txBody>
      </p:sp>
      <p:sp>
        <p:nvSpPr>
          <p:cNvPr id="4" name="Text 1"/>
          <p:cNvSpPr/>
          <p:nvPr/>
        </p:nvSpPr>
        <p:spPr>
          <a:xfrm>
            <a:off x="566928" y="841248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desk also lives in iMessage.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66928" y="144475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Spectrum turns Citadail into a PM group-chat participant, not just a web app.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822960" y="1700784"/>
            <a:ext cx="3749040" cy="4224528"/>
          </a:xfrm>
          <a:prstGeom prst="roundRect">
            <a:avLst>
              <a:gd name="adj" fmla="val 1220"/>
            </a:avLst>
          </a:prstGeom>
          <a:solidFill>
            <a:srgbClr val="111827"/>
          </a:solidFill>
          <a:ln w="10160">
            <a:solidFill>
              <a:srgbClr val="1F2937"/>
            </a:solidFill>
            <a:prstDash val="solid"/>
          </a:ln>
          <a:effectLst>
            <a:outerShdw sx="100000" sy="100000" kx="0" ky="0" algn="bl" rotWithShape="0" blurRad="12700" dist="12700" dir="2700000">
              <a:srgbClr val="28466E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78992" y="2011680"/>
            <a:ext cx="3246120" cy="3511296"/>
          </a:xfrm>
          <a:prstGeom prst="roundRect">
            <a:avLst>
              <a:gd name="adj" fmla="val 3380"/>
            </a:avLst>
          </a:prstGeom>
          <a:solidFill>
            <a:srgbClr val="F4F7FB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98448" y="221284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group</a:t>
            </a:r>
            <a:endParaRPr lang="en-US" sz="720" dirty="0"/>
          </a:p>
        </p:txBody>
      </p:sp>
      <p:sp>
        <p:nvSpPr>
          <p:cNvPr id="9" name="Shape 6"/>
          <p:cNvSpPr/>
          <p:nvPr/>
        </p:nvSpPr>
        <p:spPr>
          <a:xfrm>
            <a:off x="1261872" y="2596896"/>
            <a:ext cx="1335024" cy="393192"/>
          </a:xfrm>
          <a:prstGeom prst="roundRect">
            <a:avLst>
              <a:gd name="adj" fmla="val 18605"/>
            </a:avLst>
          </a:prstGeom>
          <a:solidFill>
            <a:srgbClr val="E6ECF6"/>
          </a:solidFill>
          <a:ln w="12700">
            <a:solidFill>
              <a:srgbClr val="E6ECF6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71600" y="2706624"/>
            <a:ext cx="11155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10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Citadail book</a:t>
            </a:r>
            <a:endParaRPr lang="en-US" sz="610" dirty="0"/>
          </a:p>
        </p:txBody>
      </p:sp>
      <p:sp>
        <p:nvSpPr>
          <p:cNvPr id="11" name="Shape 8"/>
          <p:cNvSpPr/>
          <p:nvPr/>
        </p:nvSpPr>
        <p:spPr>
          <a:xfrm>
            <a:off x="1874520" y="3017520"/>
            <a:ext cx="2157984" cy="393192"/>
          </a:xfrm>
          <a:prstGeom prst="roundRect">
            <a:avLst>
              <a:gd name="adj" fmla="val 18605"/>
            </a:avLst>
          </a:prstGeom>
          <a:solidFill>
            <a:srgbClr val="0A2259"/>
          </a:solidFill>
          <a:ln w="12700">
            <a:solidFill>
              <a:srgbClr val="0A2259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984248" y="3127248"/>
            <a:ext cx="19385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up +74.4%. 10 open paper positions. No exposure breaches.</a:t>
            </a:r>
            <a:endParaRPr lang="en-US" sz="610" dirty="0"/>
          </a:p>
        </p:txBody>
      </p:sp>
      <p:sp>
        <p:nvSpPr>
          <p:cNvPr id="13" name="Shape 10"/>
          <p:cNvSpPr/>
          <p:nvPr/>
        </p:nvSpPr>
        <p:spPr>
          <a:xfrm>
            <a:off x="1261872" y="3730752"/>
            <a:ext cx="1645920" cy="393192"/>
          </a:xfrm>
          <a:prstGeom prst="roundRect">
            <a:avLst>
              <a:gd name="adj" fmla="val 18605"/>
            </a:avLst>
          </a:prstGeom>
          <a:solidFill>
            <a:srgbClr val="E6ECF6"/>
          </a:solidFill>
          <a:ln w="12700">
            <a:solidFill>
              <a:srgbClr val="E6ECF6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71600" y="3840480"/>
            <a:ext cx="1426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10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Citadail news AAPL</a:t>
            </a:r>
            <a:endParaRPr lang="en-US" sz="610" dirty="0"/>
          </a:p>
        </p:txBody>
      </p:sp>
      <p:sp>
        <p:nvSpPr>
          <p:cNvPr id="15" name="Shape 12"/>
          <p:cNvSpPr/>
          <p:nvPr/>
        </p:nvSpPr>
        <p:spPr>
          <a:xfrm>
            <a:off x="1627632" y="4133088"/>
            <a:ext cx="2395728" cy="393192"/>
          </a:xfrm>
          <a:prstGeom prst="roundRect">
            <a:avLst>
              <a:gd name="adj" fmla="val 18605"/>
            </a:avLst>
          </a:prstGeom>
          <a:solidFill>
            <a:srgbClr val="0A2259"/>
          </a:solidFill>
          <a:ln w="12700">
            <a:solidFill>
              <a:srgbClr val="0A2259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737360" y="4242816"/>
            <a:ext cx="21762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AAPL visible sources: services durability, margin discipline, and current thesis intact.</a:t>
            </a:r>
            <a:endParaRPr lang="en-US" sz="610" dirty="0"/>
          </a:p>
        </p:txBody>
      </p:sp>
      <p:sp>
        <p:nvSpPr>
          <p:cNvPr id="17" name="Shape 14"/>
          <p:cNvSpPr/>
          <p:nvPr/>
        </p:nvSpPr>
        <p:spPr>
          <a:xfrm>
            <a:off x="5285232" y="1828800"/>
            <a:ext cx="5285232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0160">
            <a:solidFill>
              <a:srgbClr val="D7DEE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04688" y="2011680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RULES</a:t>
            </a:r>
            <a:endParaRPr lang="en-US" sz="680" dirty="0"/>
          </a:p>
        </p:txBody>
      </p:sp>
      <p:sp>
        <p:nvSpPr>
          <p:cNvPr id="19" name="Text 16"/>
          <p:cNvSpPr/>
          <p:nvPr/>
        </p:nvSpPr>
        <p:spPr>
          <a:xfrm>
            <a:off x="7059168" y="1993392"/>
            <a:ext cx="3127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chats require Citadail or cd prefix</a:t>
            </a:r>
            <a:endParaRPr lang="en-US" sz="820" dirty="0"/>
          </a:p>
        </p:txBody>
      </p:sp>
      <p:sp>
        <p:nvSpPr>
          <p:cNvPr id="20" name="Shape 17"/>
          <p:cNvSpPr/>
          <p:nvPr/>
        </p:nvSpPr>
        <p:spPr>
          <a:xfrm>
            <a:off x="5285232" y="2633472"/>
            <a:ext cx="5285232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0160">
            <a:solidFill>
              <a:srgbClr val="D7DEE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504688" y="2816352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ATTACHMENTS</a:t>
            </a:r>
            <a:endParaRPr lang="en-US" sz="680" dirty="0"/>
          </a:p>
        </p:txBody>
      </p:sp>
      <p:sp>
        <p:nvSpPr>
          <p:cNvPr id="22" name="Text 19"/>
          <p:cNvSpPr/>
          <p:nvPr/>
        </p:nvSpPr>
        <p:spPr>
          <a:xfrm>
            <a:off x="7059168" y="2798064"/>
            <a:ext cx="3127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Memo, model, and deck can be sent from the same project data</a:t>
            </a:r>
            <a:endParaRPr lang="en-US" sz="820" dirty="0"/>
          </a:p>
        </p:txBody>
      </p:sp>
      <p:sp>
        <p:nvSpPr>
          <p:cNvPr id="23" name="Shape 20"/>
          <p:cNvSpPr/>
          <p:nvPr/>
        </p:nvSpPr>
        <p:spPr>
          <a:xfrm>
            <a:off x="5285232" y="3438144"/>
            <a:ext cx="5285232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0160">
            <a:solidFill>
              <a:srgbClr val="D7DEE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504688" y="3621024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</a:t>
            </a:r>
            <a:endParaRPr lang="en-US" sz="680" dirty="0"/>
          </a:p>
        </p:txBody>
      </p:sp>
      <p:sp>
        <p:nvSpPr>
          <p:cNvPr id="25" name="Text 22"/>
          <p:cNvSpPr/>
          <p:nvPr/>
        </p:nvSpPr>
        <p:spPr>
          <a:xfrm>
            <a:off x="7059168" y="3602736"/>
            <a:ext cx="3127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Ticker-specific replay/source responses</a:t>
            </a:r>
            <a:endParaRPr lang="en-US" sz="820" dirty="0"/>
          </a:p>
        </p:txBody>
      </p:sp>
      <p:sp>
        <p:nvSpPr>
          <p:cNvPr id="26" name="Shape 23"/>
          <p:cNvSpPr/>
          <p:nvPr/>
        </p:nvSpPr>
        <p:spPr>
          <a:xfrm>
            <a:off x="5285232" y="4242816"/>
            <a:ext cx="5285232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0160">
            <a:solidFill>
              <a:srgbClr val="D7DEE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504688" y="4425696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680" dirty="0"/>
          </a:p>
        </p:txBody>
      </p:sp>
      <p:sp>
        <p:nvSpPr>
          <p:cNvPr id="28" name="Text 25"/>
          <p:cNvSpPr/>
          <p:nvPr/>
        </p:nvSpPr>
        <p:spPr>
          <a:xfrm>
            <a:off x="7059168" y="4407408"/>
            <a:ext cx="3127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can ask if Dedalus/OpenClaw is healthy</a:t>
            </a:r>
            <a:endParaRPr lang="en-US" sz="820" dirty="0"/>
          </a:p>
        </p:txBody>
      </p:sp>
      <p:pic>
        <p:nvPicPr>
          <p:cNvPr id="29" name="Image 1" descr="/Users/tazeemmahashin/Downloads/template/frontend/phot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719072"/>
            <a:ext cx="438912" cy="438912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475488" y="6446520"/>
            <a:ext cx="11201400" cy="0"/>
          </a:xfrm>
          <a:prstGeom prst="line">
            <a:avLst/>
          </a:prstGeom>
          <a:noFill/>
          <a:ln w="8890">
            <a:solidFill>
              <a:srgbClr val="D7DEE9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02920" y="653796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CITADAIL</a:t>
            </a:r>
            <a:endParaRPr lang="en-US" sz="680" dirty="0"/>
          </a:p>
        </p:txBody>
      </p:sp>
      <p:sp>
        <p:nvSpPr>
          <p:cNvPr id="32" name="Text 28"/>
          <p:cNvSpPr/>
          <p:nvPr/>
        </p:nvSpPr>
        <p:spPr>
          <a:xfrm>
            <a:off x="10241280" y="651967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Photon / Spectrum</a:t>
            </a:r>
            <a:endParaRPr lang="en-US" sz="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azeemmahashin/Downloads/template/frontend/app/Citad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9829" y="301752"/>
            <a:ext cx="568821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548640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PROOF</a:t>
            </a:r>
            <a:endParaRPr lang="en-US" sz="730" dirty="0"/>
          </a:p>
        </p:txBody>
      </p:sp>
      <p:sp>
        <p:nvSpPr>
          <p:cNvPr id="4" name="Text 1"/>
          <p:cNvSpPr/>
          <p:nvPr/>
        </p:nvSpPr>
        <p:spPr>
          <a:xfrm>
            <a:off x="566928" y="84124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Machine-backed when available. Safe when not.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66928" y="144475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Dedalus and OpenClaw are used where they matter: executing a bounded replay step, persisting proof, and falling back cleanly.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804672" y="1783080"/>
            <a:ext cx="310896" cy="274320"/>
          </a:xfrm>
          <a:prstGeom prst="roundRect">
            <a:avLst>
              <a:gd name="adj" fmla="val 16667"/>
            </a:avLst>
          </a:prstGeom>
          <a:solidFill>
            <a:srgbClr val="0A2259"/>
          </a:solidFill>
          <a:ln w="6350">
            <a:solidFill>
              <a:srgbClr val="D7DE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1869948"/>
            <a:ext cx="91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261872" y="1837944"/>
            <a:ext cx="3749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sends one bounded step</a:t>
            </a:r>
            <a:endParaRPr lang="en-US" sz="910" dirty="0"/>
          </a:p>
        </p:txBody>
      </p:sp>
      <p:sp>
        <p:nvSpPr>
          <p:cNvPr id="9" name="Shape 6"/>
          <p:cNvSpPr/>
          <p:nvPr/>
        </p:nvSpPr>
        <p:spPr>
          <a:xfrm>
            <a:off x="804672" y="2386584"/>
            <a:ext cx="310896" cy="274320"/>
          </a:xfrm>
          <a:prstGeom prst="roundRect">
            <a:avLst>
              <a:gd name="adj" fmla="val 16667"/>
            </a:avLst>
          </a:prstGeom>
          <a:solidFill>
            <a:srgbClr val="0A2259"/>
          </a:solidFill>
          <a:ln w="6350">
            <a:solidFill>
              <a:srgbClr val="D7DE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2473452"/>
            <a:ext cx="91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261872" y="2441448"/>
            <a:ext cx="3749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b="1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wrapper tries Dedalus/OpenClaw</a:t>
            </a:r>
            <a:endParaRPr lang="en-US" sz="910" dirty="0"/>
          </a:p>
        </p:txBody>
      </p:sp>
      <p:sp>
        <p:nvSpPr>
          <p:cNvPr id="12" name="Shape 9"/>
          <p:cNvSpPr/>
          <p:nvPr/>
        </p:nvSpPr>
        <p:spPr>
          <a:xfrm>
            <a:off x="804672" y="2990088"/>
            <a:ext cx="310896" cy="274320"/>
          </a:xfrm>
          <a:prstGeom prst="roundRect">
            <a:avLst>
              <a:gd name="adj" fmla="val 16667"/>
            </a:avLst>
          </a:prstGeom>
          <a:solidFill>
            <a:srgbClr val="0A2259"/>
          </a:solidFill>
          <a:ln w="6350">
            <a:solidFill>
              <a:srgbClr val="D7DE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3076956"/>
            <a:ext cx="91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261872" y="3044952"/>
            <a:ext cx="3749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output shape is validated</a:t>
            </a:r>
            <a:endParaRPr lang="en-US" sz="910" dirty="0"/>
          </a:p>
        </p:txBody>
      </p:sp>
      <p:sp>
        <p:nvSpPr>
          <p:cNvPr id="15" name="Shape 12"/>
          <p:cNvSpPr/>
          <p:nvPr/>
        </p:nvSpPr>
        <p:spPr>
          <a:xfrm>
            <a:off x="804672" y="3593592"/>
            <a:ext cx="310896" cy="274320"/>
          </a:xfrm>
          <a:prstGeom prst="roundRect">
            <a:avLst>
              <a:gd name="adj" fmla="val 16667"/>
            </a:avLst>
          </a:prstGeom>
          <a:solidFill>
            <a:srgbClr val="0A2259"/>
          </a:solidFill>
          <a:ln w="6350">
            <a:solidFill>
              <a:srgbClr val="D7DEE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3680460"/>
            <a:ext cx="91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1261872" y="3648456"/>
            <a:ext cx="3749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is persisted and surfaced</a:t>
            </a:r>
            <a:endParaRPr lang="en-US" sz="910" dirty="0"/>
          </a:p>
        </p:txBody>
      </p:sp>
      <p:sp>
        <p:nvSpPr>
          <p:cNvPr id="18" name="Shape 15"/>
          <p:cNvSpPr/>
          <p:nvPr/>
        </p:nvSpPr>
        <p:spPr>
          <a:xfrm>
            <a:off x="804672" y="4197096"/>
            <a:ext cx="310896" cy="274320"/>
          </a:xfrm>
          <a:prstGeom prst="roundRect">
            <a:avLst>
              <a:gd name="adj" fmla="val 16667"/>
            </a:avLst>
          </a:prstGeom>
          <a:solidFill>
            <a:srgbClr val="0A2259"/>
          </a:solidFill>
          <a:ln w="6350">
            <a:solidFill>
              <a:srgbClr val="D7DEE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" y="4283964"/>
            <a:ext cx="91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1261872" y="4251960"/>
            <a:ext cx="3749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falls back locally if needed</a:t>
            </a:r>
            <a:endParaRPr lang="en-US" sz="910" dirty="0"/>
          </a:p>
        </p:txBody>
      </p:sp>
      <p:sp>
        <p:nvSpPr>
          <p:cNvPr id="21" name="Shape 18"/>
          <p:cNvSpPr/>
          <p:nvPr/>
        </p:nvSpPr>
        <p:spPr>
          <a:xfrm>
            <a:off x="5559552" y="1810512"/>
            <a:ext cx="5102352" cy="2596896"/>
          </a:xfrm>
          <a:prstGeom prst="roundRect">
            <a:avLst>
              <a:gd name="adj" fmla="val 1761"/>
            </a:avLst>
          </a:prstGeom>
          <a:solidFill>
            <a:srgbClr val="0A2259"/>
          </a:solidFill>
          <a:ln w="10160">
            <a:solidFill>
              <a:srgbClr val="102B66"/>
            </a:solidFill>
            <a:prstDash val="solid"/>
          </a:ln>
          <a:effectLst>
            <a:outerShdw sx="100000" sy="100000" kx="0" ky="0" algn="bl" rotWithShape="0" blurRad="12700" dist="12700" dir="2700000">
              <a:srgbClr val="28466E">
                <a:alpha val="8000"/>
              </a:srgbClr>
            </a:outerShdw>
          </a:effectLst>
        </p:spPr>
      </p:sp>
      <p:pic>
        <p:nvPicPr>
          <p:cNvPr id="22" name="Image 1" descr="/Users/tazeemmahashin/Downloads/template/frontend/dedalus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2029968"/>
            <a:ext cx="530352" cy="530352"/>
          </a:xfrm>
          <a:prstGeom prst="rect">
            <a:avLst/>
          </a:prstGeom>
        </p:spPr>
      </p:pic>
      <p:pic>
        <p:nvPicPr>
          <p:cNvPr id="23" name="Image 2" descr="/Users/tazeemmahashin/Downloads/template/frontend/openclaw-removebg-previe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029968"/>
            <a:ext cx="530352" cy="53035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315200" y="2139696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B8C8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OBJECT</a:t>
            </a:r>
            <a:endParaRPr lang="en-US" sz="680" dirty="0"/>
          </a:p>
        </p:txBody>
      </p:sp>
      <p:sp>
        <p:nvSpPr>
          <p:cNvPr id="25" name="Text 20"/>
          <p:cNvSpPr/>
          <p:nvPr/>
        </p:nvSpPr>
        <p:spPr>
          <a:xfrm>
            <a:off x="5870448" y="2816352"/>
            <a:ext cx="429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on Dedalus completed one replay step at Apr 21, 2022 with 28 agent events.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6053328" y="3675888"/>
            <a:ext cx="1207008" cy="310896"/>
          </a:xfrm>
          <a:prstGeom prst="roundRect">
            <a:avLst>
              <a:gd name="adj" fmla="val 14706"/>
            </a:avLst>
          </a:prstGeom>
          <a:solidFill>
            <a:srgbClr val="DDE7F4"/>
          </a:solidFill>
          <a:ln w="6350">
            <a:solidFill>
              <a:srgbClr val="D7DEE9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163056" y="3762756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remote_success</a:t>
            </a:r>
            <a:endParaRPr lang="en-US" sz="750" dirty="0"/>
          </a:p>
        </p:txBody>
      </p:sp>
      <p:sp>
        <p:nvSpPr>
          <p:cNvPr id="28" name="Shape 23"/>
          <p:cNvSpPr/>
          <p:nvPr/>
        </p:nvSpPr>
        <p:spPr>
          <a:xfrm>
            <a:off x="7452360" y="3675888"/>
            <a:ext cx="969264" cy="310896"/>
          </a:xfrm>
          <a:prstGeom prst="roundRect">
            <a:avLst>
              <a:gd name="adj" fmla="val 14706"/>
            </a:avLst>
          </a:prstGeom>
          <a:solidFill>
            <a:srgbClr val="DDE7F4"/>
          </a:solidFill>
          <a:ln w="6350">
            <a:solidFill>
              <a:srgbClr val="D7DEE9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7562088" y="3762756"/>
            <a:ext cx="7498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id</a:t>
            </a:r>
            <a:endParaRPr lang="en-US" sz="750" dirty="0"/>
          </a:p>
        </p:txBody>
      </p:sp>
      <p:sp>
        <p:nvSpPr>
          <p:cNvPr id="30" name="Shape 25"/>
          <p:cNvSpPr/>
          <p:nvPr/>
        </p:nvSpPr>
        <p:spPr>
          <a:xfrm>
            <a:off x="8595360" y="3675888"/>
            <a:ext cx="1225296" cy="310896"/>
          </a:xfrm>
          <a:prstGeom prst="roundRect">
            <a:avLst>
              <a:gd name="adj" fmla="val 14706"/>
            </a:avLst>
          </a:prstGeom>
          <a:solidFill>
            <a:srgbClr val="DDE7F4"/>
          </a:solidFill>
          <a:ln w="6350">
            <a:solidFill>
              <a:srgbClr val="D7DEE9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8705088" y="3762756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3 proofs</a:t>
            </a:r>
            <a:endParaRPr lang="en-US" sz="750" dirty="0"/>
          </a:p>
        </p:txBody>
      </p:sp>
      <p:sp>
        <p:nvSpPr>
          <p:cNvPr id="32" name="Shape 27"/>
          <p:cNvSpPr/>
          <p:nvPr/>
        </p:nvSpPr>
        <p:spPr>
          <a:xfrm>
            <a:off x="5559552" y="4773168"/>
            <a:ext cx="5102352" cy="676656"/>
          </a:xfrm>
          <a:prstGeom prst="roundRect">
            <a:avLst>
              <a:gd name="adj" fmla="val 6757"/>
            </a:avLst>
          </a:prstGeom>
          <a:solidFill>
            <a:srgbClr val="EEF5F1"/>
          </a:solidFill>
          <a:ln w="10160">
            <a:solidFill>
              <a:srgbClr val="C9E0D0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5815584" y="5029200"/>
            <a:ext cx="45902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F7D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arbitrary browser shell. No secrets to client. Paper-only state sync.</a:t>
            </a:r>
            <a:endParaRPr lang="en-US" sz="880" dirty="0"/>
          </a:p>
        </p:txBody>
      </p:sp>
      <p:sp>
        <p:nvSpPr>
          <p:cNvPr id="34" name="Shape 29"/>
          <p:cNvSpPr/>
          <p:nvPr/>
        </p:nvSpPr>
        <p:spPr>
          <a:xfrm>
            <a:off x="475488" y="6446520"/>
            <a:ext cx="11201400" cy="0"/>
          </a:xfrm>
          <a:prstGeom prst="line">
            <a:avLst/>
          </a:prstGeom>
          <a:noFill/>
          <a:ln w="8890">
            <a:solidFill>
              <a:srgbClr val="D7DEE9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502920" y="653796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CITADAIL</a:t>
            </a:r>
            <a:endParaRPr lang="en-US" sz="680" dirty="0"/>
          </a:p>
        </p:txBody>
      </p:sp>
      <p:sp>
        <p:nvSpPr>
          <p:cNvPr id="36" name="Text 31"/>
          <p:cNvSpPr/>
          <p:nvPr/>
        </p:nvSpPr>
        <p:spPr>
          <a:xfrm>
            <a:off x="10241280" y="651967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Dedalus / OpenClaw</a:t>
            </a:r>
            <a:endParaRPr lang="en-US" sz="6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azeemmahashin/Downloads/template/frontend/app/Citad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9829" y="301752"/>
            <a:ext cx="568821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548640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WINS</a:t>
            </a:r>
            <a:endParaRPr lang="en-US" sz="730" dirty="0"/>
          </a:p>
        </p:txBody>
      </p:sp>
      <p:sp>
        <p:nvSpPr>
          <p:cNvPr id="4" name="Text 1"/>
          <p:cNvSpPr/>
          <p:nvPr/>
        </p:nvSpPr>
        <p:spPr>
          <a:xfrm>
            <a:off x="566928" y="841248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not a prompt demo. It is a working desk.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66928" y="144475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Citadail scores because the agent creates durable work, coordinates with humans, and leaves an auditable trail.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713232" y="1847088"/>
            <a:ext cx="3154680" cy="1417320"/>
          </a:xfrm>
          <a:prstGeom prst="roundRect">
            <a:avLst>
              <a:gd name="adj" fmla="val 3226"/>
            </a:avLst>
          </a:prstGeom>
          <a:solidFill>
            <a:srgbClr val="0A2259"/>
          </a:solidFill>
          <a:ln w="10160">
            <a:solidFill>
              <a:srgbClr val="0A225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2066544"/>
            <a:ext cx="2670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B8C8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OF ACTION</a:t>
            </a:r>
            <a:endParaRPr lang="en-US" sz="680" dirty="0"/>
          </a:p>
        </p:txBody>
      </p:sp>
      <p:sp>
        <p:nvSpPr>
          <p:cNvPr id="8" name="Text 5"/>
          <p:cNvSpPr/>
          <p:nvPr/>
        </p:nvSpPr>
        <p:spPr>
          <a:xfrm>
            <a:off x="914400" y="2423160"/>
            <a:ext cx="2670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thesis, artifacts, PM review, risk gate, paper trade, monitor, and journal.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370832" y="1847088"/>
            <a:ext cx="31546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D7DE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0" y="2066544"/>
            <a:ext cx="2670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QUALITY</a:t>
            </a:r>
            <a:endParaRPr lang="en-US" sz="680" dirty="0"/>
          </a:p>
        </p:txBody>
      </p:sp>
      <p:sp>
        <p:nvSpPr>
          <p:cNvPr id="11" name="Text 8"/>
          <p:cNvSpPr/>
          <p:nvPr/>
        </p:nvSpPr>
        <p:spPr>
          <a:xfrm>
            <a:off x="4572000" y="2423160"/>
            <a:ext cx="2670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replay step is time-bounded and source-filtered by simulation time.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8028432" y="1847088"/>
            <a:ext cx="31546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D7DE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0" y="2066544"/>
            <a:ext cx="2670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INTELLIGENCE</a:t>
            </a:r>
            <a:endParaRPr lang="en-US" sz="680" dirty="0"/>
          </a:p>
        </p:txBody>
      </p:sp>
      <p:sp>
        <p:nvSpPr>
          <p:cNvPr id="14" name="Text 11"/>
          <p:cNvSpPr/>
          <p:nvPr/>
        </p:nvSpPr>
        <p:spPr>
          <a:xfrm>
            <a:off x="8229600" y="2423160"/>
            <a:ext cx="2670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 Mode keeps the human in charge; Full Auto shows the system running the loop.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514600" y="4041648"/>
            <a:ext cx="31546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D7DEE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15768" y="4261104"/>
            <a:ext cx="2670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 FIT</a:t>
            </a:r>
            <a:endParaRPr lang="en-US" sz="680" dirty="0"/>
          </a:p>
        </p:txBody>
      </p:sp>
      <p:sp>
        <p:nvSpPr>
          <p:cNvPr id="17" name="Text 14"/>
          <p:cNvSpPr/>
          <p:nvPr/>
        </p:nvSpPr>
        <p:spPr>
          <a:xfrm>
            <a:off x="2715768" y="4617720"/>
            <a:ext cx="2670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Spectrum for iMessage, OpenClaw-style agent runtime, Dedalus machine proof.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172200" y="4041648"/>
            <a:ext cx="31546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D7DEE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73368" y="4261104"/>
            <a:ext cx="2670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2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CLARITY</a:t>
            </a:r>
            <a:endParaRPr lang="en-US" sz="680" dirty="0"/>
          </a:p>
        </p:txBody>
      </p:sp>
      <p:sp>
        <p:nvSpPr>
          <p:cNvPr id="20" name="Text 17"/>
          <p:cNvSpPr/>
          <p:nvPr/>
        </p:nvSpPr>
        <p:spPr>
          <a:xfrm>
            <a:off x="6373368" y="4617720"/>
            <a:ext cx="2670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2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visible proof signals: OpenClaw execution, PM delivery, iMessage response, thesis-break audit.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2926080" y="5806440"/>
            <a:ext cx="6309360" cy="384048"/>
          </a:xfrm>
          <a:prstGeom prst="roundRect">
            <a:avLst>
              <a:gd name="adj" fmla="val 11905"/>
            </a:avLst>
          </a:prstGeom>
          <a:solidFill>
            <a:srgbClr val="EEF5F1"/>
          </a:solidFill>
          <a:ln w="10160">
            <a:solidFill>
              <a:srgbClr val="C9E0D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127248" y="5934456"/>
            <a:ext cx="5907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2F7D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PM can use it Monday: ask for the book, inspect a thesis, download the package, and see why every paper decision happened.</a:t>
            </a:r>
            <a:endParaRPr lang="en-US" sz="770" dirty="0"/>
          </a:p>
        </p:txBody>
      </p:sp>
      <p:sp>
        <p:nvSpPr>
          <p:cNvPr id="23" name="Shape 20"/>
          <p:cNvSpPr/>
          <p:nvPr/>
        </p:nvSpPr>
        <p:spPr>
          <a:xfrm>
            <a:off x="475488" y="6446520"/>
            <a:ext cx="11201400" cy="0"/>
          </a:xfrm>
          <a:prstGeom prst="line">
            <a:avLst/>
          </a:prstGeom>
          <a:noFill/>
          <a:ln w="8890">
            <a:solidFill>
              <a:srgbClr val="D7DEE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653796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CITADAIL</a:t>
            </a:r>
            <a:endParaRPr lang="en-US" sz="680" dirty="0"/>
          </a:p>
        </p:txBody>
      </p:sp>
      <p:sp>
        <p:nvSpPr>
          <p:cNvPr id="25" name="Text 22"/>
          <p:cNvSpPr/>
          <p:nvPr/>
        </p:nvSpPr>
        <p:spPr>
          <a:xfrm>
            <a:off x="10241280" y="651967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5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Citadail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Citadail HackPrinceton Presentation</dc:title>
  <dc:subject>AI-native equity research desk</dc:subject>
  <dc:creator>Citadail</dc:creator>
  <cp:lastModifiedBy>Citadail</cp:lastModifiedBy>
  <cp:revision>1</cp:revision>
  <dcterms:created xsi:type="dcterms:W3CDTF">2026-04-19T01:51:03Z</dcterms:created>
  <dcterms:modified xsi:type="dcterms:W3CDTF">2026-04-19T01:51:03Z</dcterms:modified>
</cp:coreProperties>
</file>